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embeddedFontLst>
    <p:embeddedFont>
      <p:font typeface="Quattrocento Sans" charset="-122" pitchFamily="34"/>
      <p:regular r:id="rId15"/>
    </p:embeddedFont>
    <p:embeddedFont>
      <p:font typeface="Liter" charset="-122" pitchFamily="34"/>
      <p:regular r:id="rId16"/>
    </p:embeddedFont>
    <p:embeddedFont>
      <p:font typeface="Oranienbaum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95dbf11ebe5d9ed51060996847a23c989639df7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B2A">
                  <a:alpha val="95000"/>
                </a:srgbClr>
              </a:gs>
              <a:gs pos="50000">
                <a:srgbClr val="0D1B2A">
                  <a:alpha val="85000"/>
                </a:srgbClr>
              </a:gs>
              <a:gs pos="100000">
                <a:srgbClr val="415A77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257675" y="1666875"/>
            <a:ext cx="3676650" cy="390525"/>
          </a:xfrm>
          <a:custGeom>
            <a:avLst/>
            <a:gdLst/>
            <a:ahLst/>
            <a:cxnLst/>
            <a:rect l="l" t="t" r="r" b="b"/>
            <a:pathLst>
              <a:path w="3676650" h="390525">
                <a:moveTo>
                  <a:pt x="195263" y="0"/>
                </a:moveTo>
                <a:lnTo>
                  <a:pt x="3481388" y="0"/>
                </a:lnTo>
                <a:cubicBezTo>
                  <a:pt x="3589156" y="0"/>
                  <a:pt x="3676650" y="87494"/>
                  <a:pt x="3676650" y="195263"/>
                </a:cubicBezTo>
                <a:lnTo>
                  <a:pt x="3676650" y="195263"/>
                </a:lnTo>
                <a:cubicBezTo>
                  <a:pt x="3676650" y="303031"/>
                  <a:pt x="3589156" y="390525"/>
                  <a:pt x="3481388" y="390525"/>
                </a:cubicBezTo>
                <a:lnTo>
                  <a:pt x="195263" y="390525"/>
                </a:lnTo>
                <a:cubicBezTo>
                  <a:pt x="87494" y="390525"/>
                  <a:pt x="0" y="303031"/>
                  <a:pt x="0" y="195263"/>
                </a:cubicBezTo>
                <a:lnTo>
                  <a:pt x="0" y="195263"/>
                </a:lnTo>
                <a:cubicBezTo>
                  <a:pt x="0" y="87494"/>
                  <a:pt x="87494" y="0"/>
                  <a:pt x="195262" y="0"/>
                </a:cubicBezTo>
                <a:close/>
              </a:path>
            </a:pathLst>
          </a:custGeom>
          <a:solidFill>
            <a:srgbClr val="415A77">
              <a:alpha val="30196"/>
            </a:srgbClr>
          </a:solidFill>
          <a:ln w="12700">
            <a:solidFill>
              <a:srgbClr val="778DA9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52938" y="1776413"/>
            <a:ext cx="3286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spc="120" kern="0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AI-First Workflow Orchestration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212753" y="2595563"/>
            <a:ext cx="576262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000" b="1" spc="-225" kern="0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Synctropic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96716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778DA9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2877741" y="4310063"/>
            <a:ext cx="64389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00" dirty="0">
                <a:solidFill>
                  <a:srgbClr val="778DA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We help you build an instance of your process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601980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Accelerator Africa 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484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Submission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810280" y="6019800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spc="53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800755" y="62484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Series A Stage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Problem: The Unscalable Expert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716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643063"/>
            <a:ext cx="3648075" cy="3667125"/>
          </a:xfrm>
          <a:custGeom>
            <a:avLst/>
            <a:gdLst/>
            <a:ahLst/>
            <a:cxnLst/>
            <a:rect l="l" t="t" r="r" b="b"/>
            <a:pathLst>
              <a:path w="3648075" h="3667125">
                <a:moveTo>
                  <a:pt x="76208" y="0"/>
                </a:moveTo>
                <a:lnTo>
                  <a:pt x="3571867" y="0"/>
                </a:lnTo>
                <a:cubicBezTo>
                  <a:pt x="3613927" y="0"/>
                  <a:pt x="3648075" y="34148"/>
                  <a:pt x="3648075" y="76208"/>
                </a:cubicBezTo>
                <a:lnTo>
                  <a:pt x="3648075" y="3590917"/>
                </a:lnTo>
                <a:cubicBezTo>
                  <a:pt x="3648075" y="3633005"/>
                  <a:pt x="3613955" y="3667125"/>
                  <a:pt x="3571867" y="3667125"/>
                </a:cubicBezTo>
                <a:lnTo>
                  <a:pt x="76208" y="3667125"/>
                </a:lnTo>
                <a:cubicBezTo>
                  <a:pt x="34148" y="3667125"/>
                  <a:pt x="0" y="3632977"/>
                  <a:pt x="0" y="359091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2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76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15A77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0569" y="20097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2977"/>
                </a:move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lose/>
                <a:moveTo>
                  <a:pt x="72293" y="113109"/>
                </a:moveTo>
                <a:lnTo>
                  <a:pt x="94394" y="113109"/>
                </a:lnTo>
                <a:cubicBezTo>
                  <a:pt x="95845" y="113109"/>
                  <a:pt x="97334" y="113147"/>
                  <a:pt x="98785" y="113258"/>
                </a:cubicBezTo>
                <a:cubicBezTo>
                  <a:pt x="92757" y="123751"/>
                  <a:pt x="89297" y="135880"/>
                  <a:pt x="89297" y="148828"/>
                </a:cubicBezTo>
                <a:cubicBezTo>
                  <a:pt x="89297" y="164381"/>
                  <a:pt x="94283" y="178780"/>
                  <a:pt x="102691" y="190500"/>
                </a:cubicBezTo>
                <a:lnTo>
                  <a:pt x="17004" y="190500"/>
                </a:lnTo>
                <a:cubicBezTo>
                  <a:pt x="10902" y="190500"/>
                  <a:pt x="5953" y="185551"/>
                  <a:pt x="5953" y="179450"/>
                </a:cubicBezTo>
                <a:cubicBezTo>
                  <a:pt x="5953" y="142801"/>
                  <a:pt x="35644" y="113109"/>
                  <a:pt x="72293" y="113109"/>
                </a:cubicBezTo>
                <a:close/>
                <a:moveTo>
                  <a:pt x="107156" y="148828"/>
                </a:moveTo>
                <a:cubicBezTo>
                  <a:pt x="107156" y="119258"/>
                  <a:pt x="131164" y="95250"/>
                  <a:pt x="160734" y="95250"/>
                </a:cubicBezTo>
                <a:cubicBezTo>
                  <a:pt x="190305" y="95250"/>
                  <a:pt x="214313" y="119258"/>
                  <a:pt x="214313" y="148828"/>
                </a:cubicBezTo>
                <a:cubicBezTo>
                  <a:pt x="214313" y="178399"/>
                  <a:pt x="190305" y="202406"/>
                  <a:pt x="160734" y="202406"/>
                </a:cubicBezTo>
                <a:cubicBezTo>
                  <a:pt x="131164" y="202406"/>
                  <a:pt x="107156" y="178399"/>
                  <a:pt x="107156" y="148828"/>
                </a:cubicBezTo>
                <a:close/>
                <a:moveTo>
                  <a:pt x="160734" y="119063"/>
                </a:moveTo>
                <a:cubicBezTo>
                  <a:pt x="157460" y="119063"/>
                  <a:pt x="154781" y="121741"/>
                  <a:pt x="154781" y="125016"/>
                </a:cubicBezTo>
                <a:lnTo>
                  <a:pt x="154781" y="148828"/>
                </a:lnTo>
                <a:cubicBezTo>
                  <a:pt x="154781" y="152102"/>
                  <a:pt x="157460" y="154781"/>
                  <a:pt x="160734" y="154781"/>
                </a:cubicBezTo>
                <a:lnTo>
                  <a:pt x="178594" y="154781"/>
                </a:lnTo>
                <a:cubicBezTo>
                  <a:pt x="181868" y="154781"/>
                  <a:pt x="184547" y="152102"/>
                  <a:pt x="184547" y="148828"/>
                </a:cubicBezTo>
                <a:cubicBezTo>
                  <a:pt x="184547" y="145554"/>
                  <a:pt x="181868" y="142875"/>
                  <a:pt x="178594" y="142875"/>
                </a:cubicBezTo>
                <a:lnTo>
                  <a:pt x="166688" y="142875"/>
                </a:lnTo>
                <a:lnTo>
                  <a:pt x="166688" y="125016"/>
                </a:lnTo>
                <a:cubicBezTo>
                  <a:pt x="166688" y="121741"/>
                  <a:pt x="164009" y="119063"/>
                  <a:pt x="160734" y="119063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8" name="Text 6"/>
          <p:cNvSpPr/>
          <p:nvPr/>
        </p:nvSpPr>
        <p:spPr>
          <a:xfrm>
            <a:off x="1190625" y="1952625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Bottleneck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486025"/>
            <a:ext cx="32575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workers—consultants, analysts, architects—trade time for money. Their expertise is highly valuable but fundamentally unscalable.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8175" y="4048125"/>
            <a:ext cx="3162300" cy="1028700"/>
          </a:xfrm>
          <a:custGeom>
            <a:avLst/>
            <a:gdLst/>
            <a:ahLst/>
            <a:cxnLst/>
            <a:rect l="l" t="t" r="r" b="b"/>
            <a:pathLst>
              <a:path w="3162300" h="1028700">
                <a:moveTo>
                  <a:pt x="38100" y="0"/>
                </a:moveTo>
                <a:lnTo>
                  <a:pt x="3086104" y="0"/>
                </a:lnTo>
                <a:cubicBezTo>
                  <a:pt x="3128186" y="0"/>
                  <a:pt x="3162300" y="34114"/>
                  <a:pt x="3162300" y="76196"/>
                </a:cubicBezTo>
                <a:lnTo>
                  <a:pt x="3162300" y="952504"/>
                </a:lnTo>
                <a:cubicBezTo>
                  <a:pt x="3162300" y="994586"/>
                  <a:pt x="3128186" y="1028700"/>
                  <a:pt x="308610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38175" y="40481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42005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25" y="4429125"/>
            <a:ext cx="295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$7.6B → $52B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9625" y="47339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 market by 2030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71963" y="1643063"/>
            <a:ext cx="3648075" cy="3667125"/>
          </a:xfrm>
          <a:custGeom>
            <a:avLst/>
            <a:gdLst/>
            <a:ahLst/>
            <a:cxnLst/>
            <a:rect l="l" t="t" r="r" b="b"/>
            <a:pathLst>
              <a:path w="3648075" h="3667125">
                <a:moveTo>
                  <a:pt x="76208" y="0"/>
                </a:moveTo>
                <a:lnTo>
                  <a:pt x="3571867" y="0"/>
                </a:lnTo>
                <a:cubicBezTo>
                  <a:pt x="3613927" y="0"/>
                  <a:pt x="3648075" y="34148"/>
                  <a:pt x="3648075" y="76208"/>
                </a:cubicBezTo>
                <a:lnTo>
                  <a:pt x="3648075" y="3590917"/>
                </a:lnTo>
                <a:cubicBezTo>
                  <a:pt x="3648075" y="3633005"/>
                  <a:pt x="3613955" y="3667125"/>
                  <a:pt x="3571867" y="3667125"/>
                </a:cubicBezTo>
                <a:lnTo>
                  <a:pt x="76208" y="3667125"/>
                </a:lnTo>
                <a:cubicBezTo>
                  <a:pt x="34148" y="3667125"/>
                  <a:pt x="0" y="3632977"/>
                  <a:pt x="0" y="359091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2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5325" y="1876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15A77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638675" y="2009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18" name="Text 16"/>
          <p:cNvSpPr/>
          <p:nvPr/>
        </p:nvSpPr>
        <p:spPr>
          <a:xfrm>
            <a:off x="5076825" y="1952625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Fragmentation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05325" y="2486025"/>
            <a:ext cx="32575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automation tools are rigid. They handle simple "if-this-then-that" tasks but fail at complex, multi-step reasoning requiring distinct personas.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24375" y="4048125"/>
            <a:ext cx="3162300" cy="1028700"/>
          </a:xfrm>
          <a:custGeom>
            <a:avLst/>
            <a:gdLst/>
            <a:ahLst/>
            <a:cxnLst/>
            <a:rect l="l" t="t" r="r" b="b"/>
            <a:pathLst>
              <a:path w="3162300" h="1028700">
                <a:moveTo>
                  <a:pt x="38100" y="0"/>
                </a:moveTo>
                <a:lnTo>
                  <a:pt x="3086104" y="0"/>
                </a:lnTo>
                <a:cubicBezTo>
                  <a:pt x="3128186" y="0"/>
                  <a:pt x="3162300" y="34114"/>
                  <a:pt x="3162300" y="76196"/>
                </a:cubicBezTo>
                <a:lnTo>
                  <a:pt x="3162300" y="952504"/>
                </a:lnTo>
                <a:cubicBezTo>
                  <a:pt x="3162300" y="994586"/>
                  <a:pt x="3128186" y="1028700"/>
                  <a:pt x="308610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24375" y="40481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2" name="Text 20"/>
          <p:cNvSpPr/>
          <p:nvPr/>
        </p:nvSpPr>
        <p:spPr>
          <a:xfrm>
            <a:off x="4695825" y="42005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Adoption Gap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5825" y="4429125"/>
            <a:ext cx="295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95825" y="47339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orgs use AI, but workflows remain fragmented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58163" y="1643063"/>
            <a:ext cx="3648075" cy="3667125"/>
          </a:xfrm>
          <a:custGeom>
            <a:avLst/>
            <a:gdLst/>
            <a:ahLst/>
            <a:cxnLst/>
            <a:rect l="l" t="t" r="r" b="b"/>
            <a:pathLst>
              <a:path w="3648075" h="3667125">
                <a:moveTo>
                  <a:pt x="76208" y="0"/>
                </a:moveTo>
                <a:lnTo>
                  <a:pt x="3571867" y="0"/>
                </a:lnTo>
                <a:cubicBezTo>
                  <a:pt x="3613927" y="0"/>
                  <a:pt x="3648075" y="34148"/>
                  <a:pt x="3648075" y="76208"/>
                </a:cubicBezTo>
                <a:lnTo>
                  <a:pt x="3648075" y="3590917"/>
                </a:lnTo>
                <a:cubicBezTo>
                  <a:pt x="3648075" y="3633005"/>
                  <a:pt x="3613955" y="3667125"/>
                  <a:pt x="3571867" y="3667125"/>
                </a:cubicBezTo>
                <a:lnTo>
                  <a:pt x="76208" y="3667125"/>
                </a:lnTo>
                <a:cubicBezTo>
                  <a:pt x="34148" y="3667125"/>
                  <a:pt x="0" y="3632977"/>
                  <a:pt x="0" y="359091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2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1525" y="18764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15A77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24875" y="20097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35719"/>
                </a:moveTo>
                <a:lnTo>
                  <a:pt x="47625" y="29766"/>
                </a:lnTo>
                <a:cubicBezTo>
                  <a:pt x="47625" y="13320"/>
                  <a:pt x="79623" y="0"/>
                  <a:pt x="119063" y="0"/>
                </a:cubicBezTo>
                <a:cubicBezTo>
                  <a:pt x="158502" y="0"/>
                  <a:pt x="190500" y="13320"/>
                  <a:pt x="190500" y="29766"/>
                </a:cubicBezTo>
                <a:lnTo>
                  <a:pt x="190500" y="35719"/>
                </a:lnTo>
                <a:cubicBezTo>
                  <a:pt x="190500" y="47104"/>
                  <a:pt x="175133" y="57001"/>
                  <a:pt x="152549" y="62024"/>
                </a:cubicBezTo>
                <a:cubicBezTo>
                  <a:pt x="151656" y="60982"/>
                  <a:pt x="150726" y="59978"/>
                  <a:pt x="149796" y="59048"/>
                </a:cubicBezTo>
                <a:cubicBezTo>
                  <a:pt x="144028" y="53355"/>
                  <a:pt x="136587" y="49039"/>
                  <a:pt x="128811" y="45839"/>
                </a:cubicBezTo>
                <a:cubicBezTo>
                  <a:pt x="113221" y="39328"/>
                  <a:pt x="92906" y="35756"/>
                  <a:pt x="71438" y="35756"/>
                </a:cubicBezTo>
                <a:cubicBezTo>
                  <a:pt x="63289" y="35756"/>
                  <a:pt x="55327" y="36277"/>
                  <a:pt x="47699" y="37281"/>
                </a:cubicBezTo>
                <a:cubicBezTo>
                  <a:pt x="47625" y="36798"/>
                  <a:pt x="47625" y="36277"/>
                  <a:pt x="47625" y="35756"/>
                </a:cubicBezTo>
                <a:close/>
                <a:moveTo>
                  <a:pt x="160734" y="131341"/>
                </a:moveTo>
                <a:lnTo>
                  <a:pt x="160734" y="114151"/>
                </a:lnTo>
                <a:cubicBezTo>
                  <a:pt x="166353" y="112700"/>
                  <a:pt x="171636" y="110989"/>
                  <a:pt x="176436" y="108979"/>
                </a:cubicBezTo>
                <a:cubicBezTo>
                  <a:pt x="181347" y="106933"/>
                  <a:pt x="186147" y="104440"/>
                  <a:pt x="190500" y="101426"/>
                </a:cubicBezTo>
                <a:lnTo>
                  <a:pt x="190500" y="107156"/>
                </a:lnTo>
                <a:cubicBezTo>
                  <a:pt x="190500" y="117128"/>
                  <a:pt x="178780" y="125946"/>
                  <a:pt x="160734" y="131341"/>
                </a:cubicBezTo>
                <a:close/>
                <a:moveTo>
                  <a:pt x="160734" y="95622"/>
                </a:moveTo>
                <a:lnTo>
                  <a:pt x="160734" y="83344"/>
                </a:lnTo>
                <a:cubicBezTo>
                  <a:pt x="160734" y="81669"/>
                  <a:pt x="160586" y="80070"/>
                  <a:pt x="160362" y="78507"/>
                </a:cubicBezTo>
                <a:cubicBezTo>
                  <a:pt x="166129" y="77056"/>
                  <a:pt x="171524" y="75307"/>
                  <a:pt x="176436" y="73223"/>
                </a:cubicBezTo>
                <a:cubicBezTo>
                  <a:pt x="181347" y="71140"/>
                  <a:pt x="186147" y="68684"/>
                  <a:pt x="190500" y="65670"/>
                </a:cubicBezTo>
                <a:lnTo>
                  <a:pt x="190500" y="71400"/>
                </a:lnTo>
                <a:cubicBezTo>
                  <a:pt x="190500" y="81372"/>
                  <a:pt x="178780" y="90190"/>
                  <a:pt x="160734" y="95585"/>
                </a:cubicBezTo>
                <a:close/>
                <a:moveTo>
                  <a:pt x="0" y="89297"/>
                </a:moveTo>
                <a:lnTo>
                  <a:pt x="0" y="83344"/>
                </a:lnTo>
                <a:cubicBezTo>
                  <a:pt x="0" y="66898"/>
                  <a:pt x="31998" y="53578"/>
                  <a:pt x="71438" y="53578"/>
                </a:cubicBezTo>
                <a:cubicBezTo>
                  <a:pt x="110877" y="53578"/>
                  <a:pt x="142875" y="66898"/>
                  <a:pt x="142875" y="83344"/>
                </a:cubicBezTo>
                <a:lnTo>
                  <a:pt x="142875" y="89297"/>
                </a:lnTo>
                <a:cubicBezTo>
                  <a:pt x="142875" y="105742"/>
                  <a:pt x="110877" y="119063"/>
                  <a:pt x="71438" y="119063"/>
                </a:cubicBezTo>
                <a:cubicBezTo>
                  <a:pt x="31998" y="119063"/>
                  <a:pt x="0" y="105742"/>
                  <a:pt x="0" y="89297"/>
                </a:cubicBezTo>
                <a:close/>
                <a:moveTo>
                  <a:pt x="142875" y="125016"/>
                </a:moveTo>
                <a:cubicBezTo>
                  <a:pt x="142875" y="141461"/>
                  <a:pt x="110877" y="154781"/>
                  <a:pt x="71438" y="154781"/>
                </a:cubicBezTo>
                <a:cubicBezTo>
                  <a:pt x="31998" y="154781"/>
                  <a:pt x="0" y="141461"/>
                  <a:pt x="0" y="125016"/>
                </a:cubicBezTo>
                <a:lnTo>
                  <a:pt x="0" y="119286"/>
                </a:lnTo>
                <a:cubicBezTo>
                  <a:pt x="4316" y="122300"/>
                  <a:pt x="9116" y="124755"/>
                  <a:pt x="14064" y="126839"/>
                </a:cubicBezTo>
                <a:cubicBezTo>
                  <a:pt x="29654" y="133350"/>
                  <a:pt x="49969" y="136922"/>
                  <a:pt x="71438" y="136922"/>
                </a:cubicBezTo>
                <a:cubicBezTo>
                  <a:pt x="92906" y="136922"/>
                  <a:pt x="113221" y="133313"/>
                  <a:pt x="128811" y="126839"/>
                </a:cubicBezTo>
                <a:cubicBezTo>
                  <a:pt x="133722" y="124792"/>
                  <a:pt x="138522" y="122300"/>
                  <a:pt x="142875" y="119286"/>
                </a:cubicBezTo>
                <a:lnTo>
                  <a:pt x="142875" y="125016"/>
                </a:lnTo>
                <a:close/>
                <a:moveTo>
                  <a:pt x="142875" y="155004"/>
                </a:moveTo>
                <a:lnTo>
                  <a:pt x="142875" y="160734"/>
                </a:lnTo>
                <a:cubicBezTo>
                  <a:pt x="142875" y="177180"/>
                  <a:pt x="110877" y="190500"/>
                  <a:pt x="71438" y="190500"/>
                </a:cubicBezTo>
                <a:cubicBezTo>
                  <a:pt x="31998" y="190500"/>
                  <a:pt x="0" y="177180"/>
                  <a:pt x="0" y="160734"/>
                </a:cubicBezTo>
                <a:lnTo>
                  <a:pt x="0" y="155004"/>
                </a:lnTo>
                <a:cubicBezTo>
                  <a:pt x="4316" y="158018"/>
                  <a:pt x="9116" y="160474"/>
                  <a:pt x="14064" y="162558"/>
                </a:cubicBezTo>
                <a:cubicBezTo>
                  <a:pt x="29654" y="169069"/>
                  <a:pt x="49969" y="172641"/>
                  <a:pt x="71438" y="172641"/>
                </a:cubicBezTo>
                <a:cubicBezTo>
                  <a:pt x="92906" y="172641"/>
                  <a:pt x="113221" y="169032"/>
                  <a:pt x="128811" y="162558"/>
                </a:cubicBezTo>
                <a:cubicBezTo>
                  <a:pt x="133722" y="160511"/>
                  <a:pt x="138522" y="158018"/>
                  <a:pt x="142875" y="155004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28" name="Text 26"/>
          <p:cNvSpPr/>
          <p:nvPr/>
        </p:nvSpPr>
        <p:spPr>
          <a:xfrm>
            <a:off x="8963025" y="1952625"/>
            <a:ext cx="224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Lost Opportunity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91525" y="2486025"/>
            <a:ext cx="32575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Clients pay for the result of a process, not the hours. Experts leave money on the table because they cannot clone themselves.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10575" y="4048125"/>
            <a:ext cx="3162300" cy="1028700"/>
          </a:xfrm>
          <a:custGeom>
            <a:avLst/>
            <a:gdLst/>
            <a:ahLst/>
            <a:cxnLst/>
            <a:rect l="l" t="t" r="r" b="b"/>
            <a:pathLst>
              <a:path w="3162300" h="1028700">
                <a:moveTo>
                  <a:pt x="38100" y="0"/>
                </a:moveTo>
                <a:lnTo>
                  <a:pt x="3086104" y="0"/>
                </a:lnTo>
                <a:cubicBezTo>
                  <a:pt x="3128186" y="0"/>
                  <a:pt x="3162300" y="34114"/>
                  <a:pt x="3162300" y="76196"/>
                </a:cubicBezTo>
                <a:lnTo>
                  <a:pt x="3162300" y="952504"/>
                </a:lnTo>
                <a:cubicBezTo>
                  <a:pt x="3162300" y="994586"/>
                  <a:pt x="3128186" y="1028700"/>
                  <a:pt x="3086104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10575" y="4048125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2" name="Text 30"/>
          <p:cNvSpPr/>
          <p:nvPr/>
        </p:nvSpPr>
        <p:spPr>
          <a:xfrm>
            <a:off x="8582025" y="42005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Productivity Impact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82025" y="4429125"/>
            <a:ext cx="2952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40-90%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2025" y="4733925"/>
            <a:ext cx="290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reduction in working hours possible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5548313"/>
            <a:ext cx="11420475" cy="923925"/>
          </a:xfrm>
          <a:custGeom>
            <a:avLst/>
            <a:gdLst/>
            <a:ahLst/>
            <a:cxnLst/>
            <a:rect l="l" t="t" r="r" b="b"/>
            <a:pathLst>
              <a:path w="11420475" h="923925">
                <a:moveTo>
                  <a:pt x="76196" y="0"/>
                </a:moveTo>
                <a:lnTo>
                  <a:pt x="11344279" y="0"/>
                </a:lnTo>
                <a:cubicBezTo>
                  <a:pt x="11386361" y="0"/>
                  <a:pt x="11420475" y="34114"/>
                  <a:pt x="11420475" y="76196"/>
                </a:cubicBezTo>
                <a:lnTo>
                  <a:pt x="11420475" y="847729"/>
                </a:lnTo>
                <a:cubicBezTo>
                  <a:pt x="11420475" y="889811"/>
                  <a:pt x="11386361" y="923925"/>
                  <a:pt x="11344279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778DA9">
                  <a:alpha val="20000"/>
                </a:srgbClr>
              </a:gs>
            </a:gsLst>
            <a:lin ang="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3888" y="58959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37" name="Text 35"/>
          <p:cNvSpPr/>
          <p:nvPr/>
        </p:nvSpPr>
        <p:spPr>
          <a:xfrm>
            <a:off x="995065" y="5743575"/>
            <a:ext cx="10706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Insight:</a:t>
            </a:r>
            <a:pPr>
              <a:lnSpc>
                <a:spcPct val="130000"/>
              </a:lnSpc>
            </a:pPr>
            <a:r>
              <a:rPr lang="en-US" sz="1350" dirty="0">
                <a:solidFill>
                  <a:srgbClr val="F0F2F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 high-value professional has a proprietary process trapped in their head. The market needs a platform to extract, automate, and monetize it.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89008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spc="91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61691"/>
            <a:ext cx="11729431" cy="49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122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Synctropic: Multi-Agent Workflow Builder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407" y="1189463"/>
            <a:ext cx="792976" cy="33041"/>
          </a:xfrm>
          <a:custGeom>
            <a:avLst/>
            <a:gdLst/>
            <a:ahLst/>
            <a:cxnLst/>
            <a:rect l="l" t="t" r="r" b="b"/>
            <a:pathLst>
              <a:path w="792976" h="33041">
                <a:moveTo>
                  <a:pt x="0" y="0"/>
                </a:moveTo>
                <a:lnTo>
                  <a:pt x="792976" y="0"/>
                </a:lnTo>
                <a:lnTo>
                  <a:pt x="792976" y="33041"/>
                </a:lnTo>
                <a:lnTo>
                  <a:pt x="0" y="33041"/>
                </a:lnTo>
                <a:lnTo>
                  <a:pt x="0" y="0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5" name="Shape 3"/>
          <p:cNvSpPr/>
          <p:nvPr/>
        </p:nvSpPr>
        <p:spPr>
          <a:xfrm>
            <a:off x="334537" y="1391837"/>
            <a:ext cx="5658211" cy="1288585"/>
          </a:xfrm>
          <a:custGeom>
            <a:avLst/>
            <a:gdLst/>
            <a:ahLst/>
            <a:cxnLst/>
            <a:rect l="l" t="t" r="r" b="b"/>
            <a:pathLst>
              <a:path w="5658211" h="1288585">
                <a:moveTo>
                  <a:pt x="66079" y="0"/>
                </a:moveTo>
                <a:lnTo>
                  <a:pt x="5592133" y="0"/>
                </a:lnTo>
                <a:cubicBezTo>
                  <a:pt x="5628627" y="0"/>
                  <a:pt x="5658211" y="29584"/>
                  <a:pt x="5658211" y="66079"/>
                </a:cubicBezTo>
                <a:lnTo>
                  <a:pt x="5658211" y="1222507"/>
                </a:lnTo>
                <a:cubicBezTo>
                  <a:pt x="5658211" y="1259001"/>
                  <a:pt x="5628627" y="1288585"/>
                  <a:pt x="5592133" y="1288585"/>
                </a:cubicBezTo>
                <a:lnTo>
                  <a:pt x="66079" y="1288585"/>
                </a:lnTo>
                <a:cubicBezTo>
                  <a:pt x="29584" y="1288585"/>
                  <a:pt x="0" y="1259001"/>
                  <a:pt x="0" y="1222507"/>
                </a:cubicBezTo>
                <a:lnTo>
                  <a:pt x="0" y="66079"/>
                </a:lnTo>
                <a:cubicBezTo>
                  <a:pt x="0" y="29609"/>
                  <a:pt x="29609" y="0"/>
                  <a:pt x="66079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6911" y="1627252"/>
            <a:ext cx="247805" cy="198244"/>
          </a:xfrm>
          <a:custGeom>
            <a:avLst/>
            <a:gdLst/>
            <a:ahLst/>
            <a:cxnLst/>
            <a:rect l="l" t="t" r="r" b="b"/>
            <a:pathLst>
              <a:path w="247805" h="198244">
                <a:moveTo>
                  <a:pt x="161034" y="81505"/>
                </a:moveTo>
                <a:cubicBezTo>
                  <a:pt x="165758" y="80227"/>
                  <a:pt x="170714" y="82473"/>
                  <a:pt x="172844" y="86848"/>
                </a:cubicBezTo>
                <a:lnTo>
                  <a:pt x="180046" y="101406"/>
                </a:lnTo>
                <a:cubicBezTo>
                  <a:pt x="184034" y="101948"/>
                  <a:pt x="187945" y="103033"/>
                  <a:pt x="191623" y="104543"/>
                </a:cubicBezTo>
                <a:lnTo>
                  <a:pt x="205175" y="95521"/>
                </a:lnTo>
                <a:cubicBezTo>
                  <a:pt x="209240" y="92811"/>
                  <a:pt x="214622" y="93353"/>
                  <a:pt x="218068" y="96799"/>
                </a:cubicBezTo>
                <a:lnTo>
                  <a:pt x="225502" y="104233"/>
                </a:lnTo>
                <a:cubicBezTo>
                  <a:pt x="228948" y="107679"/>
                  <a:pt x="229491" y="113100"/>
                  <a:pt x="226780" y="117127"/>
                </a:cubicBezTo>
                <a:lnTo>
                  <a:pt x="217759" y="130640"/>
                </a:lnTo>
                <a:cubicBezTo>
                  <a:pt x="218494" y="132459"/>
                  <a:pt x="219152" y="134357"/>
                  <a:pt x="219695" y="136331"/>
                </a:cubicBezTo>
                <a:cubicBezTo>
                  <a:pt x="220237" y="138306"/>
                  <a:pt x="220585" y="140242"/>
                  <a:pt x="220856" y="142217"/>
                </a:cubicBezTo>
                <a:lnTo>
                  <a:pt x="235453" y="149419"/>
                </a:lnTo>
                <a:cubicBezTo>
                  <a:pt x="239829" y="151587"/>
                  <a:pt x="242074" y="156543"/>
                  <a:pt x="240797" y="161228"/>
                </a:cubicBezTo>
                <a:lnTo>
                  <a:pt x="238086" y="171373"/>
                </a:lnTo>
                <a:cubicBezTo>
                  <a:pt x="236809" y="176058"/>
                  <a:pt x="232433" y="179233"/>
                  <a:pt x="227555" y="178923"/>
                </a:cubicBezTo>
                <a:lnTo>
                  <a:pt x="211292" y="177877"/>
                </a:lnTo>
                <a:cubicBezTo>
                  <a:pt x="208853" y="181014"/>
                  <a:pt x="206027" y="183918"/>
                  <a:pt x="202813" y="186396"/>
                </a:cubicBezTo>
                <a:lnTo>
                  <a:pt x="203858" y="202619"/>
                </a:lnTo>
                <a:cubicBezTo>
                  <a:pt x="204168" y="207498"/>
                  <a:pt x="200993" y="211912"/>
                  <a:pt x="196308" y="213151"/>
                </a:cubicBezTo>
                <a:lnTo>
                  <a:pt x="186163" y="215861"/>
                </a:lnTo>
                <a:cubicBezTo>
                  <a:pt x="181440" y="217139"/>
                  <a:pt x="176522" y="214893"/>
                  <a:pt x="174354" y="210518"/>
                </a:cubicBezTo>
                <a:lnTo>
                  <a:pt x="167152" y="195959"/>
                </a:lnTo>
                <a:cubicBezTo>
                  <a:pt x="163164" y="195417"/>
                  <a:pt x="159253" y="194333"/>
                  <a:pt x="155575" y="192823"/>
                </a:cubicBezTo>
                <a:lnTo>
                  <a:pt x="142023" y="201845"/>
                </a:lnTo>
                <a:cubicBezTo>
                  <a:pt x="137958" y="204555"/>
                  <a:pt x="132576" y="204013"/>
                  <a:pt x="129130" y="200567"/>
                </a:cubicBezTo>
                <a:lnTo>
                  <a:pt x="121695" y="193133"/>
                </a:lnTo>
                <a:cubicBezTo>
                  <a:pt x="118249" y="189687"/>
                  <a:pt x="117707" y="184305"/>
                  <a:pt x="120418" y="180239"/>
                </a:cubicBezTo>
                <a:lnTo>
                  <a:pt x="129439" y="166688"/>
                </a:lnTo>
                <a:cubicBezTo>
                  <a:pt x="128704" y="164868"/>
                  <a:pt x="128045" y="162970"/>
                  <a:pt x="127503" y="160996"/>
                </a:cubicBezTo>
                <a:cubicBezTo>
                  <a:pt x="126961" y="159021"/>
                  <a:pt x="126613" y="157046"/>
                  <a:pt x="126342" y="155110"/>
                </a:cubicBezTo>
                <a:lnTo>
                  <a:pt x="111745" y="147909"/>
                </a:lnTo>
                <a:cubicBezTo>
                  <a:pt x="107369" y="145740"/>
                  <a:pt x="105162" y="140784"/>
                  <a:pt x="106401" y="136099"/>
                </a:cubicBezTo>
                <a:lnTo>
                  <a:pt x="109112" y="125955"/>
                </a:lnTo>
                <a:cubicBezTo>
                  <a:pt x="110389" y="121270"/>
                  <a:pt x="114765" y="118095"/>
                  <a:pt x="119643" y="118404"/>
                </a:cubicBezTo>
                <a:lnTo>
                  <a:pt x="135867" y="119450"/>
                </a:lnTo>
                <a:cubicBezTo>
                  <a:pt x="138306" y="116313"/>
                  <a:pt x="141133" y="113409"/>
                  <a:pt x="144346" y="110931"/>
                </a:cubicBezTo>
                <a:lnTo>
                  <a:pt x="143301" y="94747"/>
                </a:lnTo>
                <a:cubicBezTo>
                  <a:pt x="142991" y="89868"/>
                  <a:pt x="146166" y="85454"/>
                  <a:pt x="150851" y="84215"/>
                </a:cubicBezTo>
                <a:lnTo>
                  <a:pt x="160996" y="81505"/>
                </a:lnTo>
                <a:close/>
                <a:moveTo>
                  <a:pt x="173618" y="131646"/>
                </a:moveTo>
                <a:cubicBezTo>
                  <a:pt x="164216" y="131657"/>
                  <a:pt x="156590" y="139300"/>
                  <a:pt x="156601" y="148702"/>
                </a:cubicBezTo>
                <a:cubicBezTo>
                  <a:pt x="156612" y="158105"/>
                  <a:pt x="164254" y="165730"/>
                  <a:pt x="173657" y="165720"/>
                </a:cubicBezTo>
                <a:cubicBezTo>
                  <a:pt x="183060" y="165709"/>
                  <a:pt x="190685" y="158066"/>
                  <a:pt x="190674" y="148664"/>
                </a:cubicBezTo>
                <a:cubicBezTo>
                  <a:pt x="190664" y="139261"/>
                  <a:pt x="183021" y="131636"/>
                  <a:pt x="173618" y="131646"/>
                </a:cubicBezTo>
                <a:close/>
                <a:moveTo>
                  <a:pt x="87080" y="-17617"/>
                </a:moveTo>
                <a:lnTo>
                  <a:pt x="97225" y="-14907"/>
                </a:lnTo>
                <a:cubicBezTo>
                  <a:pt x="101910" y="-13629"/>
                  <a:pt x="105085" y="-9215"/>
                  <a:pt x="104775" y="-4375"/>
                </a:cubicBezTo>
                <a:lnTo>
                  <a:pt x="103730" y="11809"/>
                </a:lnTo>
                <a:cubicBezTo>
                  <a:pt x="106943" y="14287"/>
                  <a:pt x="109770" y="17153"/>
                  <a:pt x="112209" y="20328"/>
                </a:cubicBezTo>
                <a:lnTo>
                  <a:pt x="128471" y="19282"/>
                </a:lnTo>
                <a:cubicBezTo>
                  <a:pt x="133311" y="18973"/>
                  <a:pt x="137725" y="22148"/>
                  <a:pt x="139003" y="26833"/>
                </a:cubicBezTo>
                <a:lnTo>
                  <a:pt x="141713" y="36977"/>
                </a:lnTo>
                <a:cubicBezTo>
                  <a:pt x="142952" y="41662"/>
                  <a:pt x="140745" y="46618"/>
                  <a:pt x="136370" y="48787"/>
                </a:cubicBezTo>
                <a:lnTo>
                  <a:pt x="121773" y="55988"/>
                </a:lnTo>
                <a:cubicBezTo>
                  <a:pt x="121502" y="57963"/>
                  <a:pt x="121115" y="59938"/>
                  <a:pt x="120611" y="61874"/>
                </a:cubicBezTo>
                <a:cubicBezTo>
                  <a:pt x="120108" y="63810"/>
                  <a:pt x="119411" y="65746"/>
                  <a:pt x="118675" y="67566"/>
                </a:cubicBezTo>
                <a:lnTo>
                  <a:pt x="127697" y="81117"/>
                </a:lnTo>
                <a:cubicBezTo>
                  <a:pt x="130407" y="85183"/>
                  <a:pt x="129865" y="90565"/>
                  <a:pt x="126419" y="94011"/>
                </a:cubicBezTo>
                <a:lnTo>
                  <a:pt x="118985" y="101445"/>
                </a:lnTo>
                <a:cubicBezTo>
                  <a:pt x="115539" y="104891"/>
                  <a:pt x="110157" y="105433"/>
                  <a:pt x="106091" y="102723"/>
                </a:cubicBezTo>
                <a:lnTo>
                  <a:pt x="92540" y="93701"/>
                </a:lnTo>
                <a:cubicBezTo>
                  <a:pt x="88861" y="95211"/>
                  <a:pt x="84951" y="96295"/>
                  <a:pt x="80963" y="96838"/>
                </a:cubicBezTo>
                <a:lnTo>
                  <a:pt x="73761" y="111396"/>
                </a:lnTo>
                <a:cubicBezTo>
                  <a:pt x="71592" y="115771"/>
                  <a:pt x="66636" y="117978"/>
                  <a:pt x="61951" y="116739"/>
                </a:cubicBezTo>
                <a:lnTo>
                  <a:pt x="51807" y="114029"/>
                </a:lnTo>
                <a:cubicBezTo>
                  <a:pt x="47083" y="112751"/>
                  <a:pt x="43947" y="108337"/>
                  <a:pt x="44256" y="103497"/>
                </a:cubicBezTo>
                <a:lnTo>
                  <a:pt x="45302" y="87274"/>
                </a:lnTo>
                <a:cubicBezTo>
                  <a:pt x="42088" y="84796"/>
                  <a:pt x="39262" y="81930"/>
                  <a:pt x="36822" y="78755"/>
                </a:cubicBezTo>
                <a:lnTo>
                  <a:pt x="20560" y="79801"/>
                </a:lnTo>
                <a:cubicBezTo>
                  <a:pt x="15720" y="80111"/>
                  <a:pt x="11306" y="76936"/>
                  <a:pt x="10028" y="72251"/>
                </a:cubicBezTo>
                <a:lnTo>
                  <a:pt x="7318" y="62106"/>
                </a:lnTo>
                <a:cubicBezTo>
                  <a:pt x="6079" y="57421"/>
                  <a:pt x="8286" y="52465"/>
                  <a:pt x="12661" y="50297"/>
                </a:cubicBezTo>
                <a:lnTo>
                  <a:pt x="27259" y="43095"/>
                </a:lnTo>
                <a:cubicBezTo>
                  <a:pt x="27530" y="41120"/>
                  <a:pt x="27917" y="39184"/>
                  <a:pt x="28420" y="37209"/>
                </a:cubicBezTo>
                <a:cubicBezTo>
                  <a:pt x="28962" y="35235"/>
                  <a:pt x="29582" y="33338"/>
                  <a:pt x="30356" y="31518"/>
                </a:cubicBezTo>
                <a:lnTo>
                  <a:pt x="21334" y="18005"/>
                </a:lnTo>
                <a:cubicBezTo>
                  <a:pt x="18624" y="13939"/>
                  <a:pt x="19166" y="8557"/>
                  <a:pt x="22612" y="5111"/>
                </a:cubicBezTo>
                <a:lnTo>
                  <a:pt x="30046" y="-2323"/>
                </a:lnTo>
                <a:cubicBezTo>
                  <a:pt x="33492" y="-5769"/>
                  <a:pt x="38874" y="-6311"/>
                  <a:pt x="42940" y="-3601"/>
                </a:cubicBezTo>
                <a:lnTo>
                  <a:pt x="56492" y="5421"/>
                </a:lnTo>
                <a:cubicBezTo>
                  <a:pt x="60170" y="3911"/>
                  <a:pt x="64081" y="2827"/>
                  <a:pt x="68069" y="2284"/>
                </a:cubicBezTo>
                <a:lnTo>
                  <a:pt x="75271" y="-12274"/>
                </a:lnTo>
                <a:cubicBezTo>
                  <a:pt x="77439" y="-16649"/>
                  <a:pt x="82356" y="-18856"/>
                  <a:pt x="87080" y="-17617"/>
                </a:cubicBezTo>
                <a:close/>
                <a:moveTo>
                  <a:pt x="74496" y="32524"/>
                </a:moveTo>
                <a:cubicBezTo>
                  <a:pt x="65094" y="32524"/>
                  <a:pt x="57460" y="40158"/>
                  <a:pt x="57460" y="49561"/>
                </a:cubicBezTo>
                <a:cubicBezTo>
                  <a:pt x="57460" y="58964"/>
                  <a:pt x="65094" y="66598"/>
                  <a:pt x="74496" y="66598"/>
                </a:cubicBezTo>
                <a:cubicBezTo>
                  <a:pt x="83899" y="66598"/>
                  <a:pt x="91533" y="58964"/>
                  <a:pt x="91533" y="49561"/>
                </a:cubicBezTo>
                <a:cubicBezTo>
                  <a:pt x="91533" y="40158"/>
                  <a:pt x="83899" y="32524"/>
                  <a:pt x="74496" y="32524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7" name="Text 5"/>
          <p:cNvSpPr/>
          <p:nvPr/>
        </p:nvSpPr>
        <p:spPr>
          <a:xfrm>
            <a:off x="784715" y="1594211"/>
            <a:ext cx="510478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Platform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6911" y="1990699"/>
            <a:ext cx="5327805" cy="48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multi-agent workflow builder that turns complex human processes into repeatable, autonomous software engines.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4537" y="2849756"/>
            <a:ext cx="5658211" cy="3675772"/>
          </a:xfrm>
          <a:custGeom>
            <a:avLst/>
            <a:gdLst/>
            <a:ahLst/>
            <a:cxnLst/>
            <a:rect l="l" t="t" r="r" b="b"/>
            <a:pathLst>
              <a:path w="5658211" h="3675772">
                <a:moveTo>
                  <a:pt x="66090" y="0"/>
                </a:moveTo>
                <a:lnTo>
                  <a:pt x="5592121" y="0"/>
                </a:lnTo>
                <a:cubicBezTo>
                  <a:pt x="5628622" y="0"/>
                  <a:pt x="5658211" y="29590"/>
                  <a:pt x="5658211" y="66090"/>
                </a:cubicBezTo>
                <a:lnTo>
                  <a:pt x="5658211" y="3609682"/>
                </a:lnTo>
                <a:cubicBezTo>
                  <a:pt x="5658211" y="3646183"/>
                  <a:pt x="5628622" y="3675772"/>
                  <a:pt x="5592121" y="3675772"/>
                </a:cubicBezTo>
                <a:lnTo>
                  <a:pt x="66090" y="3675772"/>
                </a:lnTo>
                <a:cubicBezTo>
                  <a:pt x="29590" y="3675772"/>
                  <a:pt x="0" y="3646183"/>
                  <a:pt x="0" y="3609682"/>
                </a:cubicBezTo>
                <a:lnTo>
                  <a:pt x="0" y="66090"/>
                </a:lnTo>
                <a:cubicBezTo>
                  <a:pt x="0" y="29614"/>
                  <a:pt x="29614" y="0"/>
                  <a:pt x="66090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1691" y="3085171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0" y="30976"/>
                </a:moveTo>
                <a:cubicBezTo>
                  <a:pt x="0" y="20715"/>
                  <a:pt x="8325" y="12390"/>
                  <a:pt x="18585" y="12390"/>
                </a:cubicBezTo>
                <a:lnTo>
                  <a:pt x="55756" y="12390"/>
                </a:lnTo>
                <a:cubicBezTo>
                  <a:pt x="66017" y="12390"/>
                  <a:pt x="74341" y="20715"/>
                  <a:pt x="74341" y="30976"/>
                </a:cubicBezTo>
                <a:lnTo>
                  <a:pt x="74341" y="37171"/>
                </a:lnTo>
                <a:lnTo>
                  <a:pt x="123902" y="37171"/>
                </a:lnTo>
                <a:lnTo>
                  <a:pt x="123902" y="30976"/>
                </a:lnTo>
                <a:cubicBezTo>
                  <a:pt x="123902" y="20715"/>
                  <a:pt x="132227" y="12390"/>
                  <a:pt x="142488" y="12390"/>
                </a:cubicBezTo>
                <a:lnTo>
                  <a:pt x="179659" y="12390"/>
                </a:lnTo>
                <a:cubicBezTo>
                  <a:pt x="189919" y="12390"/>
                  <a:pt x="198244" y="20715"/>
                  <a:pt x="198244" y="30976"/>
                </a:cubicBezTo>
                <a:lnTo>
                  <a:pt x="198244" y="68146"/>
                </a:lnTo>
                <a:cubicBezTo>
                  <a:pt x="198244" y="78407"/>
                  <a:pt x="189919" y="86732"/>
                  <a:pt x="179659" y="86732"/>
                </a:cubicBezTo>
                <a:lnTo>
                  <a:pt x="142488" y="86732"/>
                </a:lnTo>
                <a:cubicBezTo>
                  <a:pt x="132227" y="86732"/>
                  <a:pt x="123902" y="78407"/>
                  <a:pt x="123902" y="68146"/>
                </a:cubicBezTo>
                <a:lnTo>
                  <a:pt x="123902" y="61951"/>
                </a:lnTo>
                <a:lnTo>
                  <a:pt x="74341" y="61951"/>
                </a:lnTo>
                <a:lnTo>
                  <a:pt x="74341" y="68146"/>
                </a:lnTo>
                <a:cubicBezTo>
                  <a:pt x="74341" y="70973"/>
                  <a:pt x="73683" y="73683"/>
                  <a:pt x="72560" y="76084"/>
                </a:cubicBezTo>
                <a:lnTo>
                  <a:pt x="99122" y="111512"/>
                </a:lnTo>
                <a:lnTo>
                  <a:pt x="130098" y="111512"/>
                </a:lnTo>
                <a:cubicBezTo>
                  <a:pt x="140358" y="111512"/>
                  <a:pt x="148683" y="119837"/>
                  <a:pt x="148683" y="130098"/>
                </a:cubicBezTo>
                <a:lnTo>
                  <a:pt x="148683" y="167268"/>
                </a:lnTo>
                <a:cubicBezTo>
                  <a:pt x="148683" y="177529"/>
                  <a:pt x="140358" y="185854"/>
                  <a:pt x="130098" y="185854"/>
                </a:cubicBezTo>
                <a:lnTo>
                  <a:pt x="92927" y="185854"/>
                </a:lnTo>
                <a:cubicBezTo>
                  <a:pt x="82666" y="185854"/>
                  <a:pt x="74341" y="177529"/>
                  <a:pt x="74341" y="167268"/>
                </a:cubicBezTo>
                <a:lnTo>
                  <a:pt x="74341" y="130098"/>
                </a:lnTo>
                <a:cubicBezTo>
                  <a:pt x="74341" y="127271"/>
                  <a:pt x="75000" y="124561"/>
                  <a:pt x="76123" y="122160"/>
                </a:cubicBezTo>
                <a:lnTo>
                  <a:pt x="49561" y="86732"/>
                </a:lnTo>
                <a:lnTo>
                  <a:pt x="18585" y="86732"/>
                </a:lnTo>
                <a:cubicBezTo>
                  <a:pt x="8325" y="86732"/>
                  <a:pt x="0" y="78407"/>
                  <a:pt x="0" y="68146"/>
                </a:cubicBezTo>
                <a:lnTo>
                  <a:pt x="0" y="30976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1" name="Text 9"/>
          <p:cNvSpPr/>
          <p:nvPr/>
        </p:nvSpPr>
        <p:spPr>
          <a:xfrm>
            <a:off x="784715" y="3052130"/>
            <a:ext cx="510478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6911" y="3481659"/>
            <a:ext cx="264325" cy="264325"/>
          </a:xfrm>
          <a:custGeom>
            <a:avLst/>
            <a:gdLst/>
            <a:ahLst/>
            <a:cxnLst/>
            <a:rect l="l" t="t" r="r" b="b"/>
            <a:pathLst>
              <a:path w="264325" h="264325">
                <a:moveTo>
                  <a:pt x="132163" y="0"/>
                </a:moveTo>
                <a:lnTo>
                  <a:pt x="132163" y="0"/>
                </a:lnTo>
                <a:cubicBezTo>
                  <a:pt x="205105" y="0"/>
                  <a:pt x="264325" y="59220"/>
                  <a:pt x="264325" y="132163"/>
                </a:cubicBezTo>
                <a:lnTo>
                  <a:pt x="264325" y="132163"/>
                </a:lnTo>
                <a:cubicBezTo>
                  <a:pt x="264325" y="205105"/>
                  <a:pt x="205105" y="264325"/>
                  <a:pt x="132163" y="264325"/>
                </a:cubicBezTo>
                <a:lnTo>
                  <a:pt x="132163" y="264325"/>
                </a:lnTo>
                <a:cubicBezTo>
                  <a:pt x="59220" y="264325"/>
                  <a:pt x="0" y="205105"/>
                  <a:pt x="0" y="132163"/>
                </a:cubicBezTo>
                <a:lnTo>
                  <a:pt x="0" y="132163"/>
                </a:lnTo>
                <a:cubicBezTo>
                  <a:pt x="0" y="59220"/>
                  <a:pt x="59220" y="0"/>
                  <a:pt x="132163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3" name="Text 11"/>
          <p:cNvSpPr/>
          <p:nvPr/>
        </p:nvSpPr>
        <p:spPr>
          <a:xfrm>
            <a:off x="650617" y="3531220"/>
            <a:ext cx="9086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0358" y="3448618"/>
            <a:ext cx="4956098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Agents: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Users create specialized AI agents, each with a distinct role and expertise.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911" y="3977268"/>
            <a:ext cx="264325" cy="264325"/>
          </a:xfrm>
          <a:custGeom>
            <a:avLst/>
            <a:gdLst/>
            <a:ahLst/>
            <a:cxnLst/>
            <a:rect l="l" t="t" r="r" b="b"/>
            <a:pathLst>
              <a:path w="264325" h="264325">
                <a:moveTo>
                  <a:pt x="132163" y="0"/>
                </a:moveTo>
                <a:lnTo>
                  <a:pt x="132163" y="0"/>
                </a:lnTo>
                <a:cubicBezTo>
                  <a:pt x="205105" y="0"/>
                  <a:pt x="264325" y="59220"/>
                  <a:pt x="264325" y="132163"/>
                </a:cubicBezTo>
                <a:lnTo>
                  <a:pt x="264325" y="132163"/>
                </a:lnTo>
                <a:cubicBezTo>
                  <a:pt x="264325" y="205105"/>
                  <a:pt x="205105" y="264325"/>
                  <a:pt x="132163" y="264325"/>
                </a:cubicBezTo>
                <a:lnTo>
                  <a:pt x="132163" y="264325"/>
                </a:lnTo>
                <a:cubicBezTo>
                  <a:pt x="59220" y="264325"/>
                  <a:pt x="0" y="205105"/>
                  <a:pt x="0" y="132163"/>
                </a:cubicBezTo>
                <a:lnTo>
                  <a:pt x="0" y="132163"/>
                </a:lnTo>
                <a:cubicBezTo>
                  <a:pt x="0" y="59220"/>
                  <a:pt x="59220" y="0"/>
                  <a:pt x="132163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6" name="Text 14"/>
          <p:cNvSpPr/>
          <p:nvPr/>
        </p:nvSpPr>
        <p:spPr>
          <a:xfrm>
            <a:off x="639517" y="4026829"/>
            <a:ext cx="11564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358" y="3944228"/>
            <a:ext cx="4956098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Handoffs: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 up intelligent handoffs between agents for seamless workflow orchestration.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6911" y="4472878"/>
            <a:ext cx="264325" cy="264325"/>
          </a:xfrm>
          <a:custGeom>
            <a:avLst/>
            <a:gdLst/>
            <a:ahLst/>
            <a:cxnLst/>
            <a:rect l="l" t="t" r="r" b="b"/>
            <a:pathLst>
              <a:path w="264325" h="264325">
                <a:moveTo>
                  <a:pt x="132163" y="0"/>
                </a:moveTo>
                <a:lnTo>
                  <a:pt x="132163" y="0"/>
                </a:lnTo>
                <a:cubicBezTo>
                  <a:pt x="205105" y="0"/>
                  <a:pt x="264325" y="59220"/>
                  <a:pt x="264325" y="132163"/>
                </a:cubicBezTo>
                <a:lnTo>
                  <a:pt x="264325" y="132163"/>
                </a:lnTo>
                <a:cubicBezTo>
                  <a:pt x="264325" y="205105"/>
                  <a:pt x="205105" y="264325"/>
                  <a:pt x="132163" y="264325"/>
                </a:cubicBezTo>
                <a:lnTo>
                  <a:pt x="132163" y="264325"/>
                </a:lnTo>
                <a:cubicBezTo>
                  <a:pt x="59220" y="264325"/>
                  <a:pt x="0" y="205105"/>
                  <a:pt x="0" y="132163"/>
                </a:cubicBezTo>
                <a:lnTo>
                  <a:pt x="0" y="132163"/>
                </a:lnTo>
                <a:cubicBezTo>
                  <a:pt x="0" y="59220"/>
                  <a:pt x="59220" y="0"/>
                  <a:pt x="132163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9" name="Text 17"/>
          <p:cNvSpPr/>
          <p:nvPr/>
        </p:nvSpPr>
        <p:spPr>
          <a:xfrm>
            <a:off x="638098" y="4522439"/>
            <a:ext cx="123902" cy="165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0358" y="4439837"/>
            <a:ext cx="4956098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Output:</a:t>
            </a:r>
            <a:pPr>
              <a:lnSpc>
                <a:spcPct val="130000"/>
              </a:lnSpc>
            </a:pPr>
            <a:r>
              <a:rPr lang="en-US" sz="1041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produces the ultimate deliverable—reports, analysis, recommendations.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97316" y="1391837"/>
            <a:ext cx="5658211" cy="5129561"/>
          </a:xfrm>
          <a:custGeom>
            <a:avLst/>
            <a:gdLst/>
            <a:ahLst/>
            <a:cxnLst/>
            <a:rect l="l" t="t" r="r" b="b"/>
            <a:pathLst>
              <a:path w="5658211" h="5129561">
                <a:moveTo>
                  <a:pt x="66069" y="0"/>
                </a:moveTo>
                <a:lnTo>
                  <a:pt x="5592143" y="0"/>
                </a:lnTo>
                <a:cubicBezTo>
                  <a:pt x="5628631" y="0"/>
                  <a:pt x="5658211" y="29580"/>
                  <a:pt x="5658211" y="66069"/>
                </a:cubicBezTo>
                <a:lnTo>
                  <a:pt x="5658211" y="5063492"/>
                </a:lnTo>
                <a:cubicBezTo>
                  <a:pt x="5658211" y="5099981"/>
                  <a:pt x="5628631" y="5129561"/>
                  <a:pt x="5592143" y="5129561"/>
                </a:cubicBezTo>
                <a:lnTo>
                  <a:pt x="66069" y="5129561"/>
                </a:lnTo>
                <a:cubicBezTo>
                  <a:pt x="29580" y="5129561"/>
                  <a:pt x="0" y="5099981"/>
                  <a:pt x="0" y="5063492"/>
                </a:cubicBezTo>
                <a:lnTo>
                  <a:pt x="0" y="66069"/>
                </a:lnTo>
                <a:cubicBezTo>
                  <a:pt x="0" y="29604"/>
                  <a:pt x="29604" y="0"/>
                  <a:pt x="66069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2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24471" y="1627252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107563" y="3330"/>
                </a:moveTo>
                <a:cubicBezTo>
                  <a:pt x="102800" y="-1084"/>
                  <a:pt x="95444" y="-1084"/>
                  <a:pt x="90720" y="3330"/>
                </a:cubicBezTo>
                <a:lnTo>
                  <a:pt x="3988" y="83866"/>
                </a:lnTo>
                <a:cubicBezTo>
                  <a:pt x="271" y="87351"/>
                  <a:pt x="-968" y="92733"/>
                  <a:pt x="891" y="97457"/>
                </a:cubicBezTo>
                <a:cubicBezTo>
                  <a:pt x="2749" y="102181"/>
                  <a:pt x="7279" y="105317"/>
                  <a:pt x="12390" y="105317"/>
                </a:cubicBezTo>
                <a:lnTo>
                  <a:pt x="18585" y="105317"/>
                </a:lnTo>
                <a:lnTo>
                  <a:pt x="18585" y="173463"/>
                </a:lnTo>
                <a:cubicBezTo>
                  <a:pt x="18585" y="187131"/>
                  <a:pt x="29698" y="198244"/>
                  <a:pt x="43366" y="198244"/>
                </a:cubicBezTo>
                <a:lnTo>
                  <a:pt x="154878" y="198244"/>
                </a:lnTo>
                <a:cubicBezTo>
                  <a:pt x="168546" y="198244"/>
                  <a:pt x="179659" y="187131"/>
                  <a:pt x="179659" y="173463"/>
                </a:cubicBezTo>
                <a:lnTo>
                  <a:pt x="179659" y="105317"/>
                </a:lnTo>
                <a:lnTo>
                  <a:pt x="185854" y="105317"/>
                </a:lnTo>
                <a:cubicBezTo>
                  <a:pt x="190965" y="105317"/>
                  <a:pt x="195534" y="102181"/>
                  <a:pt x="197392" y="97457"/>
                </a:cubicBezTo>
                <a:cubicBezTo>
                  <a:pt x="199251" y="92733"/>
                  <a:pt x="198012" y="87313"/>
                  <a:pt x="194295" y="83866"/>
                </a:cubicBezTo>
                <a:lnTo>
                  <a:pt x="107563" y="3330"/>
                </a:lnTo>
                <a:close/>
                <a:moveTo>
                  <a:pt x="92927" y="123902"/>
                </a:moveTo>
                <a:lnTo>
                  <a:pt x="105317" y="123902"/>
                </a:lnTo>
                <a:cubicBezTo>
                  <a:pt x="115578" y="123902"/>
                  <a:pt x="123902" y="132227"/>
                  <a:pt x="123902" y="142488"/>
                </a:cubicBezTo>
                <a:lnTo>
                  <a:pt x="123902" y="179659"/>
                </a:lnTo>
                <a:lnTo>
                  <a:pt x="74341" y="179659"/>
                </a:lnTo>
                <a:lnTo>
                  <a:pt x="74341" y="142488"/>
                </a:lnTo>
                <a:cubicBezTo>
                  <a:pt x="74341" y="132227"/>
                  <a:pt x="82666" y="123902"/>
                  <a:pt x="92927" y="123902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3" name="Text 21"/>
          <p:cNvSpPr/>
          <p:nvPr/>
        </p:nvSpPr>
        <p:spPr>
          <a:xfrm>
            <a:off x="6647495" y="1594211"/>
            <a:ext cx="5104780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Airbnb Consultant Workflow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6210" y="2023740"/>
            <a:ext cx="5236943" cy="859057"/>
          </a:xfrm>
          <a:custGeom>
            <a:avLst/>
            <a:gdLst/>
            <a:ahLst/>
            <a:cxnLst/>
            <a:rect l="l" t="t" r="r" b="b"/>
            <a:pathLst>
              <a:path w="5236943" h="859057">
                <a:moveTo>
                  <a:pt x="33041" y="0"/>
                </a:moveTo>
                <a:lnTo>
                  <a:pt x="5170864" y="0"/>
                </a:lnTo>
                <a:cubicBezTo>
                  <a:pt x="5207359" y="0"/>
                  <a:pt x="5236943" y="29584"/>
                  <a:pt x="5236943" y="66079"/>
                </a:cubicBezTo>
                <a:lnTo>
                  <a:pt x="5236943" y="792978"/>
                </a:lnTo>
                <a:cubicBezTo>
                  <a:pt x="5236943" y="829472"/>
                  <a:pt x="5207359" y="859057"/>
                  <a:pt x="5170864" y="859057"/>
                </a:cubicBezTo>
                <a:lnTo>
                  <a:pt x="33041" y="859057"/>
                </a:lnTo>
                <a:cubicBezTo>
                  <a:pt x="14793" y="859057"/>
                  <a:pt x="0" y="844264"/>
                  <a:pt x="0" y="82601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16210" y="2023740"/>
            <a:ext cx="33041" cy="859057"/>
          </a:xfrm>
          <a:custGeom>
            <a:avLst/>
            <a:gdLst/>
            <a:ahLst/>
            <a:cxnLst/>
            <a:rect l="l" t="t" r="r" b="b"/>
            <a:pathLst>
              <a:path w="33041" h="859057">
                <a:moveTo>
                  <a:pt x="33041" y="0"/>
                </a:moveTo>
                <a:lnTo>
                  <a:pt x="33041" y="0"/>
                </a:lnTo>
                <a:lnTo>
                  <a:pt x="33041" y="859057"/>
                </a:lnTo>
                <a:lnTo>
                  <a:pt x="33041" y="859057"/>
                </a:lnTo>
                <a:cubicBezTo>
                  <a:pt x="14793" y="859057"/>
                  <a:pt x="0" y="844264"/>
                  <a:pt x="0" y="82601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6" name="Shape 24"/>
          <p:cNvSpPr/>
          <p:nvPr/>
        </p:nvSpPr>
        <p:spPr>
          <a:xfrm>
            <a:off x="6564893" y="2155902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415A77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666597" y="2221984"/>
            <a:ext cx="18998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4422" y="2205463"/>
            <a:ext cx="160247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Research Agent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64893" y="2552390"/>
            <a:ext cx="502217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Scrapes local property comps, pricing data, and market trends from multiple sources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6210" y="3014959"/>
            <a:ext cx="5236943" cy="859057"/>
          </a:xfrm>
          <a:custGeom>
            <a:avLst/>
            <a:gdLst/>
            <a:ahLst/>
            <a:cxnLst/>
            <a:rect l="l" t="t" r="r" b="b"/>
            <a:pathLst>
              <a:path w="5236943" h="859057">
                <a:moveTo>
                  <a:pt x="33041" y="0"/>
                </a:moveTo>
                <a:lnTo>
                  <a:pt x="5170864" y="0"/>
                </a:lnTo>
                <a:cubicBezTo>
                  <a:pt x="5207359" y="0"/>
                  <a:pt x="5236943" y="29584"/>
                  <a:pt x="5236943" y="66079"/>
                </a:cubicBezTo>
                <a:lnTo>
                  <a:pt x="5236943" y="792978"/>
                </a:lnTo>
                <a:cubicBezTo>
                  <a:pt x="5236943" y="829472"/>
                  <a:pt x="5207359" y="859057"/>
                  <a:pt x="5170864" y="859057"/>
                </a:cubicBezTo>
                <a:lnTo>
                  <a:pt x="33041" y="859057"/>
                </a:lnTo>
                <a:cubicBezTo>
                  <a:pt x="14793" y="859057"/>
                  <a:pt x="0" y="844264"/>
                  <a:pt x="0" y="82601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16210" y="3014959"/>
            <a:ext cx="33041" cy="859057"/>
          </a:xfrm>
          <a:custGeom>
            <a:avLst/>
            <a:gdLst/>
            <a:ahLst/>
            <a:cxnLst/>
            <a:rect l="l" t="t" r="r" b="b"/>
            <a:pathLst>
              <a:path w="33041" h="859057">
                <a:moveTo>
                  <a:pt x="33041" y="0"/>
                </a:moveTo>
                <a:lnTo>
                  <a:pt x="33041" y="0"/>
                </a:lnTo>
                <a:lnTo>
                  <a:pt x="33041" y="859057"/>
                </a:lnTo>
                <a:lnTo>
                  <a:pt x="33041" y="859057"/>
                </a:lnTo>
                <a:cubicBezTo>
                  <a:pt x="14793" y="859057"/>
                  <a:pt x="0" y="844264"/>
                  <a:pt x="0" y="82601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32" name="Shape 30"/>
          <p:cNvSpPr/>
          <p:nvPr/>
        </p:nvSpPr>
        <p:spPr>
          <a:xfrm>
            <a:off x="6564893" y="3147122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415A77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53948" y="3213203"/>
            <a:ext cx="21476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4422" y="3196683"/>
            <a:ext cx="1437268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 Analysis Agent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64893" y="3543610"/>
            <a:ext cx="502217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local zoning laws, rental regulations, and legal landscape for compliance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6210" y="4006179"/>
            <a:ext cx="5236943" cy="1057301"/>
          </a:xfrm>
          <a:custGeom>
            <a:avLst/>
            <a:gdLst/>
            <a:ahLst/>
            <a:cxnLst/>
            <a:rect l="l" t="t" r="r" b="b"/>
            <a:pathLst>
              <a:path w="5236943" h="1057301">
                <a:moveTo>
                  <a:pt x="33041" y="0"/>
                </a:moveTo>
                <a:lnTo>
                  <a:pt x="5170862" y="0"/>
                </a:lnTo>
                <a:cubicBezTo>
                  <a:pt x="5207357" y="0"/>
                  <a:pt x="5236943" y="29586"/>
                  <a:pt x="5236943" y="66081"/>
                </a:cubicBezTo>
                <a:lnTo>
                  <a:pt x="5236943" y="991220"/>
                </a:lnTo>
                <a:cubicBezTo>
                  <a:pt x="5236943" y="1027715"/>
                  <a:pt x="5207357" y="1057301"/>
                  <a:pt x="5170862" y="1057301"/>
                </a:cubicBezTo>
                <a:lnTo>
                  <a:pt x="33041" y="1057301"/>
                </a:lnTo>
                <a:cubicBezTo>
                  <a:pt x="14793" y="1057301"/>
                  <a:pt x="0" y="1042508"/>
                  <a:pt x="0" y="102426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16210" y="4006179"/>
            <a:ext cx="33041" cy="1057301"/>
          </a:xfrm>
          <a:custGeom>
            <a:avLst/>
            <a:gdLst/>
            <a:ahLst/>
            <a:cxnLst/>
            <a:rect l="l" t="t" r="r" b="b"/>
            <a:pathLst>
              <a:path w="33041" h="1057301">
                <a:moveTo>
                  <a:pt x="33041" y="0"/>
                </a:moveTo>
                <a:lnTo>
                  <a:pt x="33041" y="0"/>
                </a:lnTo>
                <a:lnTo>
                  <a:pt x="33041" y="1057301"/>
                </a:lnTo>
                <a:lnTo>
                  <a:pt x="33041" y="1057301"/>
                </a:lnTo>
                <a:cubicBezTo>
                  <a:pt x="14793" y="1057301"/>
                  <a:pt x="0" y="1042508"/>
                  <a:pt x="0" y="1024260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38" name="Shape 36"/>
          <p:cNvSpPr/>
          <p:nvPr/>
        </p:nvSpPr>
        <p:spPr>
          <a:xfrm>
            <a:off x="6564893" y="4138341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415A77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652270" y="4204423"/>
            <a:ext cx="22302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4422" y="4187902"/>
            <a:ext cx="1941138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Occupancy Projection Agent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64893" y="4534829"/>
            <a:ext cx="5022179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Cross-references regional events, seasonality, and tourism data for occupancy forecasts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6210" y="5195642"/>
            <a:ext cx="5236943" cy="859057"/>
          </a:xfrm>
          <a:custGeom>
            <a:avLst/>
            <a:gdLst/>
            <a:ahLst/>
            <a:cxnLst/>
            <a:rect l="l" t="t" r="r" b="b"/>
            <a:pathLst>
              <a:path w="5236943" h="859057">
                <a:moveTo>
                  <a:pt x="33041" y="0"/>
                </a:moveTo>
                <a:lnTo>
                  <a:pt x="5170864" y="0"/>
                </a:lnTo>
                <a:cubicBezTo>
                  <a:pt x="5207359" y="0"/>
                  <a:pt x="5236943" y="29584"/>
                  <a:pt x="5236943" y="66079"/>
                </a:cubicBezTo>
                <a:lnTo>
                  <a:pt x="5236943" y="792978"/>
                </a:lnTo>
                <a:cubicBezTo>
                  <a:pt x="5236943" y="829472"/>
                  <a:pt x="5207359" y="859057"/>
                  <a:pt x="5170864" y="859057"/>
                </a:cubicBezTo>
                <a:lnTo>
                  <a:pt x="33041" y="859057"/>
                </a:lnTo>
                <a:cubicBezTo>
                  <a:pt x="14793" y="859057"/>
                  <a:pt x="0" y="844264"/>
                  <a:pt x="0" y="82601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16210" y="5195642"/>
            <a:ext cx="33041" cy="859057"/>
          </a:xfrm>
          <a:custGeom>
            <a:avLst/>
            <a:gdLst/>
            <a:ahLst/>
            <a:cxnLst/>
            <a:rect l="l" t="t" r="r" b="b"/>
            <a:pathLst>
              <a:path w="33041" h="859057">
                <a:moveTo>
                  <a:pt x="33041" y="0"/>
                </a:moveTo>
                <a:lnTo>
                  <a:pt x="33041" y="0"/>
                </a:lnTo>
                <a:lnTo>
                  <a:pt x="33041" y="859057"/>
                </a:lnTo>
                <a:lnTo>
                  <a:pt x="33041" y="859057"/>
                </a:lnTo>
                <a:cubicBezTo>
                  <a:pt x="14793" y="859057"/>
                  <a:pt x="0" y="844264"/>
                  <a:pt x="0" y="82601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44" name="Shape 42"/>
          <p:cNvSpPr/>
          <p:nvPr/>
        </p:nvSpPr>
        <p:spPr>
          <a:xfrm>
            <a:off x="6564893" y="5327805"/>
            <a:ext cx="330407" cy="330407"/>
          </a:xfrm>
          <a:custGeom>
            <a:avLst/>
            <a:gdLst/>
            <a:ahLst/>
            <a:cxnLst/>
            <a:rect l="l" t="t" r="r" b="b"/>
            <a:pathLst>
              <a:path w="330407" h="330407">
                <a:moveTo>
                  <a:pt x="66081" y="0"/>
                </a:moveTo>
                <a:lnTo>
                  <a:pt x="264325" y="0"/>
                </a:lnTo>
                <a:cubicBezTo>
                  <a:pt x="300796" y="0"/>
                  <a:pt x="330407" y="29610"/>
                  <a:pt x="330407" y="66081"/>
                </a:cubicBezTo>
                <a:lnTo>
                  <a:pt x="330407" y="264325"/>
                </a:lnTo>
                <a:cubicBezTo>
                  <a:pt x="330407" y="300796"/>
                  <a:pt x="300796" y="330407"/>
                  <a:pt x="264325" y="330407"/>
                </a:cubicBezTo>
                <a:lnTo>
                  <a:pt x="66081" y="330407"/>
                </a:lnTo>
                <a:cubicBezTo>
                  <a:pt x="29610" y="330407"/>
                  <a:pt x="0" y="300796"/>
                  <a:pt x="0" y="264325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778DA9">
              <a:alpha val="5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654077" y="5393886"/>
            <a:ext cx="214764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94422" y="5377366"/>
            <a:ext cx="1693333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Generation Agent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64893" y="5724293"/>
            <a:ext cx="502217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Synthesizes all inputs into a client-ready profitability report with ROI projections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Validation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Proof of Concept: The Autonomous Software Factory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906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23988"/>
            <a:ext cx="6172200" cy="1266825"/>
          </a:xfrm>
          <a:custGeom>
            <a:avLst/>
            <a:gdLst/>
            <a:ahLst/>
            <a:cxnLst/>
            <a:rect l="l" t="t" r="r" b="b"/>
            <a:pathLst>
              <a:path w="6172200" h="1266825">
                <a:moveTo>
                  <a:pt x="76200" y="0"/>
                </a:moveTo>
                <a:lnTo>
                  <a:pt x="6096000" y="0"/>
                </a:lnTo>
                <a:cubicBezTo>
                  <a:pt x="6138084" y="0"/>
                  <a:pt x="6172200" y="34116"/>
                  <a:pt x="6172200" y="76200"/>
                </a:cubicBezTo>
                <a:lnTo>
                  <a:pt x="6172200" y="1190625"/>
                </a:lnTo>
                <a:cubicBezTo>
                  <a:pt x="6172200" y="1232709"/>
                  <a:pt x="6138084" y="1266825"/>
                  <a:pt x="6096000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6744" y="16573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7" name="Text 5"/>
          <p:cNvSpPr/>
          <p:nvPr/>
        </p:nvSpPr>
        <p:spPr>
          <a:xfrm>
            <a:off x="819150" y="1619250"/>
            <a:ext cx="563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Alpha Instance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000250"/>
            <a:ext cx="58578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prove the platform, we built our own instance: 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Autonomous Software Factory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takes a product from roadmap to deployed code using seven distinct agents.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763" y="2852738"/>
            <a:ext cx="6172200" cy="3895725"/>
          </a:xfrm>
          <a:custGeom>
            <a:avLst/>
            <a:gdLst/>
            <a:ahLst/>
            <a:cxnLst/>
            <a:rect l="l" t="t" r="r" b="b"/>
            <a:pathLst>
              <a:path w="6172200" h="3895725">
                <a:moveTo>
                  <a:pt x="76200" y="0"/>
                </a:moveTo>
                <a:lnTo>
                  <a:pt x="6096000" y="0"/>
                </a:lnTo>
                <a:cubicBezTo>
                  <a:pt x="6138084" y="0"/>
                  <a:pt x="6172200" y="34116"/>
                  <a:pt x="6172200" y="76200"/>
                </a:cubicBezTo>
                <a:lnTo>
                  <a:pt x="6172200" y="3819525"/>
                </a:lnTo>
                <a:cubicBezTo>
                  <a:pt x="6172200" y="3861609"/>
                  <a:pt x="6138084" y="3895725"/>
                  <a:pt x="6096000" y="3895725"/>
                </a:cubicBezTo>
                <a:lnTo>
                  <a:pt x="76200" y="3895725"/>
                </a:lnTo>
                <a:cubicBezTo>
                  <a:pt x="34116" y="3895725"/>
                  <a:pt x="0" y="3861609"/>
                  <a:pt x="0" y="38195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2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1025" y="3048000"/>
            <a:ext cx="587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Seven-Agent Architecture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0075" y="3467100"/>
            <a:ext cx="2819400" cy="685800"/>
          </a:xfrm>
          <a:custGeom>
            <a:avLst/>
            <a:gdLst/>
            <a:ahLst/>
            <a:cxnLst/>
            <a:rect l="l" t="t" r="r" b="b"/>
            <a:pathLst>
              <a:path w="2819400" h="685800">
                <a:moveTo>
                  <a:pt x="38100" y="0"/>
                </a:moveTo>
                <a:lnTo>
                  <a:pt x="2743201" y="0"/>
                </a:lnTo>
                <a:cubicBezTo>
                  <a:pt x="2785284" y="0"/>
                  <a:pt x="2819400" y="34116"/>
                  <a:pt x="2819400" y="76199"/>
                </a:cubicBezTo>
                <a:lnTo>
                  <a:pt x="2819400" y="609601"/>
                </a:lnTo>
                <a:cubicBezTo>
                  <a:pt x="2819400" y="651684"/>
                  <a:pt x="2785284" y="685800"/>
                  <a:pt x="27432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0075" y="34671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3" name="Shape 11"/>
          <p:cNvSpPr/>
          <p:nvPr/>
        </p:nvSpPr>
        <p:spPr>
          <a:xfrm>
            <a:off x="760809" y="36290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-8334"/>
                </a:moveTo>
                <a:cubicBezTo>
                  <a:pt x="62951" y="-8334"/>
                  <a:pt x="66675" y="-4610"/>
                  <a:pt x="66675" y="0"/>
                </a:cubicBezTo>
                <a:lnTo>
                  <a:pt x="66675" y="8334"/>
                </a:lnTo>
                <a:lnTo>
                  <a:pt x="75009" y="8334"/>
                </a:lnTo>
                <a:cubicBezTo>
                  <a:pt x="79619" y="8334"/>
                  <a:pt x="83344" y="12059"/>
                  <a:pt x="83344" y="16669"/>
                </a:cubicBezTo>
                <a:cubicBezTo>
                  <a:pt x="83344" y="21279"/>
                  <a:pt x="79619" y="25003"/>
                  <a:pt x="75009" y="25003"/>
                </a:cubicBezTo>
                <a:lnTo>
                  <a:pt x="66675" y="25003"/>
                </a:lnTo>
                <a:lnTo>
                  <a:pt x="66675" y="41672"/>
                </a:lnTo>
                <a:lnTo>
                  <a:pt x="106732" y="41672"/>
                </a:lnTo>
                <a:cubicBezTo>
                  <a:pt x="112228" y="41672"/>
                  <a:pt x="116681" y="46126"/>
                  <a:pt x="116681" y="51621"/>
                </a:cubicBezTo>
                <a:cubicBezTo>
                  <a:pt x="116681" y="53288"/>
                  <a:pt x="116265" y="54929"/>
                  <a:pt x="115457" y="56387"/>
                </a:cubicBezTo>
                <a:lnTo>
                  <a:pt x="91678" y="100013"/>
                </a:lnTo>
                <a:lnTo>
                  <a:pt x="106315" y="118322"/>
                </a:lnTo>
                <a:cubicBezTo>
                  <a:pt x="107618" y="119963"/>
                  <a:pt x="108347" y="121994"/>
                  <a:pt x="108347" y="124104"/>
                </a:cubicBezTo>
                <a:cubicBezTo>
                  <a:pt x="108347" y="129209"/>
                  <a:pt x="104206" y="133350"/>
                  <a:pt x="99101" y="133350"/>
                </a:cubicBezTo>
                <a:lnTo>
                  <a:pt x="17580" y="133350"/>
                </a:lnTo>
                <a:cubicBezTo>
                  <a:pt x="12476" y="133350"/>
                  <a:pt x="8334" y="129209"/>
                  <a:pt x="8334" y="124104"/>
                </a:cubicBezTo>
                <a:cubicBezTo>
                  <a:pt x="8334" y="121994"/>
                  <a:pt x="9038" y="119963"/>
                  <a:pt x="10366" y="118322"/>
                </a:cubicBezTo>
                <a:lnTo>
                  <a:pt x="25003" y="100013"/>
                </a:lnTo>
                <a:lnTo>
                  <a:pt x="1224" y="56413"/>
                </a:lnTo>
                <a:cubicBezTo>
                  <a:pt x="417" y="54929"/>
                  <a:pt x="0" y="53288"/>
                  <a:pt x="0" y="51621"/>
                </a:cubicBezTo>
                <a:cubicBezTo>
                  <a:pt x="0" y="46126"/>
                  <a:pt x="4454" y="41672"/>
                  <a:pt x="9949" y="41672"/>
                </a:cubicBezTo>
                <a:lnTo>
                  <a:pt x="50006" y="41672"/>
                </a:lnTo>
                <a:lnTo>
                  <a:pt x="50006" y="25003"/>
                </a:lnTo>
                <a:lnTo>
                  <a:pt x="41672" y="25003"/>
                </a:lnTo>
                <a:cubicBezTo>
                  <a:pt x="37062" y="25003"/>
                  <a:pt x="33337" y="21279"/>
                  <a:pt x="33337" y="16669"/>
                </a:cubicBezTo>
                <a:cubicBezTo>
                  <a:pt x="33337" y="12059"/>
                  <a:pt x="37062" y="8334"/>
                  <a:pt x="41672" y="8334"/>
                </a:cubicBezTo>
                <a:lnTo>
                  <a:pt x="50006" y="8334"/>
                </a:lnTo>
                <a:lnTo>
                  <a:pt x="50006" y="0"/>
                </a:lnTo>
                <a:cubicBezTo>
                  <a:pt x="50006" y="-4610"/>
                  <a:pt x="53731" y="-8334"/>
                  <a:pt x="58341" y="-8334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4" name="Text 12"/>
          <p:cNvSpPr/>
          <p:nvPr/>
        </p:nvSpPr>
        <p:spPr>
          <a:xfrm>
            <a:off x="976312" y="3581400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3425" y="38481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Roadmap &amp; Sequencing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48063" y="3467100"/>
            <a:ext cx="2819400" cy="685800"/>
          </a:xfrm>
          <a:custGeom>
            <a:avLst/>
            <a:gdLst/>
            <a:ahLst/>
            <a:cxnLst/>
            <a:rect l="l" t="t" r="r" b="b"/>
            <a:pathLst>
              <a:path w="2819400" h="685800">
                <a:moveTo>
                  <a:pt x="38100" y="0"/>
                </a:moveTo>
                <a:lnTo>
                  <a:pt x="2743201" y="0"/>
                </a:lnTo>
                <a:cubicBezTo>
                  <a:pt x="2785284" y="0"/>
                  <a:pt x="2819400" y="34116"/>
                  <a:pt x="2819400" y="76199"/>
                </a:cubicBezTo>
                <a:lnTo>
                  <a:pt x="2819400" y="609601"/>
                </a:lnTo>
                <a:cubicBezTo>
                  <a:pt x="2819400" y="651684"/>
                  <a:pt x="2785284" y="685800"/>
                  <a:pt x="27432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548063" y="34671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8" name="Shape 16"/>
          <p:cNvSpPr/>
          <p:nvPr/>
        </p:nvSpPr>
        <p:spPr>
          <a:xfrm>
            <a:off x="3700463" y="36290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25863" y="66701"/>
                </a:moveTo>
                <a:lnTo>
                  <a:pt x="43938" y="35473"/>
                </a:lnTo>
                <a:cubicBezTo>
                  <a:pt x="42479" y="32296"/>
                  <a:pt x="41646" y="28754"/>
                  <a:pt x="41646" y="25003"/>
                </a:cubicBezTo>
                <a:cubicBezTo>
                  <a:pt x="41646" y="11199"/>
                  <a:pt x="52845" y="0"/>
                  <a:pt x="66649" y="0"/>
                </a:cubicBezTo>
                <a:cubicBezTo>
                  <a:pt x="80453" y="0"/>
                  <a:pt x="91652" y="11199"/>
                  <a:pt x="91652" y="25003"/>
                </a:cubicBezTo>
                <a:cubicBezTo>
                  <a:pt x="91652" y="28728"/>
                  <a:pt x="90845" y="32270"/>
                  <a:pt x="89360" y="35473"/>
                </a:cubicBezTo>
                <a:lnTo>
                  <a:pt x="100924" y="55450"/>
                </a:lnTo>
                <a:cubicBezTo>
                  <a:pt x="94908" y="62221"/>
                  <a:pt x="86938" y="67196"/>
                  <a:pt x="77900" y="69462"/>
                </a:cubicBezTo>
                <a:lnTo>
                  <a:pt x="66675" y="49980"/>
                </a:lnTo>
                <a:lnTo>
                  <a:pt x="48938" y="80609"/>
                </a:lnTo>
                <a:cubicBezTo>
                  <a:pt x="54538" y="82380"/>
                  <a:pt x="60476" y="83344"/>
                  <a:pt x="66675" y="83344"/>
                </a:cubicBezTo>
                <a:cubicBezTo>
                  <a:pt x="85089" y="83344"/>
                  <a:pt x="101523" y="74827"/>
                  <a:pt x="112228" y="61466"/>
                </a:cubicBezTo>
                <a:cubicBezTo>
                  <a:pt x="115119" y="57872"/>
                  <a:pt x="120354" y="57299"/>
                  <a:pt x="123948" y="60164"/>
                </a:cubicBezTo>
                <a:cubicBezTo>
                  <a:pt x="127542" y="63029"/>
                  <a:pt x="128115" y="68290"/>
                  <a:pt x="125250" y="71884"/>
                </a:cubicBezTo>
                <a:cubicBezTo>
                  <a:pt x="111524" y="89022"/>
                  <a:pt x="90376" y="100013"/>
                  <a:pt x="66701" y="100013"/>
                </a:cubicBezTo>
                <a:cubicBezTo>
                  <a:pt x="57481" y="100013"/>
                  <a:pt x="48626" y="98346"/>
                  <a:pt x="40474" y="95298"/>
                </a:cubicBezTo>
                <a:lnTo>
                  <a:pt x="25706" y="120770"/>
                </a:lnTo>
                <a:cubicBezTo>
                  <a:pt x="24482" y="122880"/>
                  <a:pt x="22659" y="124599"/>
                  <a:pt x="20471" y="125693"/>
                </a:cubicBezTo>
                <a:lnTo>
                  <a:pt x="6042" y="132907"/>
                </a:lnTo>
                <a:cubicBezTo>
                  <a:pt x="4740" y="133558"/>
                  <a:pt x="3204" y="133480"/>
                  <a:pt x="1979" y="132725"/>
                </a:cubicBezTo>
                <a:cubicBezTo>
                  <a:pt x="755" y="131970"/>
                  <a:pt x="0" y="130615"/>
                  <a:pt x="0" y="129183"/>
                </a:cubicBezTo>
                <a:lnTo>
                  <a:pt x="0" y="114754"/>
                </a:lnTo>
                <a:cubicBezTo>
                  <a:pt x="0" y="112566"/>
                  <a:pt x="573" y="110404"/>
                  <a:pt x="1693" y="108477"/>
                </a:cubicBezTo>
                <a:lnTo>
                  <a:pt x="17320" y="81469"/>
                </a:lnTo>
                <a:cubicBezTo>
                  <a:pt x="13986" y="78551"/>
                  <a:pt x="10913" y="75348"/>
                  <a:pt x="8126" y="71884"/>
                </a:cubicBezTo>
                <a:cubicBezTo>
                  <a:pt x="5235" y="68290"/>
                  <a:pt x="5834" y="63055"/>
                  <a:pt x="9428" y="60164"/>
                </a:cubicBezTo>
                <a:cubicBezTo>
                  <a:pt x="13022" y="57273"/>
                  <a:pt x="18257" y="57872"/>
                  <a:pt x="21148" y="61466"/>
                </a:cubicBezTo>
                <a:cubicBezTo>
                  <a:pt x="22633" y="63315"/>
                  <a:pt x="24222" y="65060"/>
                  <a:pt x="25889" y="66701"/>
                </a:cubicBezTo>
                <a:close/>
                <a:moveTo>
                  <a:pt x="99257" y="106237"/>
                </a:moveTo>
                <a:cubicBezTo>
                  <a:pt x="107722" y="102851"/>
                  <a:pt x="115509" y="98163"/>
                  <a:pt x="122411" y="92459"/>
                </a:cubicBezTo>
                <a:lnTo>
                  <a:pt x="131683" y="108477"/>
                </a:lnTo>
                <a:cubicBezTo>
                  <a:pt x="132777" y="110378"/>
                  <a:pt x="133376" y="112540"/>
                  <a:pt x="133376" y="114754"/>
                </a:cubicBezTo>
                <a:lnTo>
                  <a:pt x="133376" y="129183"/>
                </a:lnTo>
                <a:cubicBezTo>
                  <a:pt x="133376" y="130615"/>
                  <a:pt x="132621" y="131970"/>
                  <a:pt x="131397" y="132725"/>
                </a:cubicBezTo>
                <a:cubicBezTo>
                  <a:pt x="130173" y="133480"/>
                  <a:pt x="128636" y="133558"/>
                  <a:pt x="127334" y="132907"/>
                </a:cubicBezTo>
                <a:lnTo>
                  <a:pt x="112905" y="125693"/>
                </a:lnTo>
                <a:cubicBezTo>
                  <a:pt x="110717" y="124599"/>
                  <a:pt x="108894" y="122880"/>
                  <a:pt x="107670" y="120770"/>
                </a:cubicBezTo>
                <a:lnTo>
                  <a:pt x="99257" y="106237"/>
                </a:lnTo>
                <a:close/>
                <a:moveTo>
                  <a:pt x="66675" y="33337"/>
                </a:moveTo>
                <a:cubicBezTo>
                  <a:pt x="71275" y="33337"/>
                  <a:pt x="75009" y="29603"/>
                  <a:pt x="75009" y="25003"/>
                </a:cubicBezTo>
                <a:cubicBezTo>
                  <a:pt x="75009" y="20403"/>
                  <a:pt x="71275" y="16669"/>
                  <a:pt x="66675" y="16669"/>
                </a:cubicBezTo>
                <a:cubicBezTo>
                  <a:pt x="62075" y="16669"/>
                  <a:pt x="58341" y="20403"/>
                  <a:pt x="58341" y="25003"/>
                </a:cubicBezTo>
                <a:cubicBezTo>
                  <a:pt x="58341" y="29603"/>
                  <a:pt x="62075" y="33337"/>
                  <a:pt x="66675" y="33337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9" name="Text 17"/>
          <p:cNvSpPr/>
          <p:nvPr/>
        </p:nvSpPr>
        <p:spPr>
          <a:xfrm>
            <a:off x="3924300" y="358140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81413" y="38481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Blueprint &amp; Spec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0075" y="4267200"/>
            <a:ext cx="2819400" cy="685800"/>
          </a:xfrm>
          <a:custGeom>
            <a:avLst/>
            <a:gdLst/>
            <a:ahLst/>
            <a:cxnLst/>
            <a:rect l="l" t="t" r="r" b="b"/>
            <a:pathLst>
              <a:path w="2819400" h="685800">
                <a:moveTo>
                  <a:pt x="38100" y="0"/>
                </a:moveTo>
                <a:lnTo>
                  <a:pt x="2743201" y="0"/>
                </a:lnTo>
                <a:cubicBezTo>
                  <a:pt x="2785284" y="0"/>
                  <a:pt x="2819400" y="34116"/>
                  <a:pt x="2819400" y="76199"/>
                </a:cubicBezTo>
                <a:lnTo>
                  <a:pt x="2819400" y="609601"/>
                </a:lnTo>
                <a:cubicBezTo>
                  <a:pt x="2819400" y="651684"/>
                  <a:pt x="2785284" y="685800"/>
                  <a:pt x="27432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0075" y="42672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3" name="Shape 21"/>
          <p:cNvSpPr/>
          <p:nvPr/>
        </p:nvSpPr>
        <p:spPr>
          <a:xfrm>
            <a:off x="735806" y="442912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64305" y="4766"/>
                </a:moveTo>
                <a:lnTo>
                  <a:pt x="70582" y="990"/>
                </a:lnTo>
                <a:cubicBezTo>
                  <a:pt x="76207" y="-2396"/>
                  <a:pt x="82641" y="-4167"/>
                  <a:pt x="89204" y="-4167"/>
                </a:cubicBezTo>
                <a:cubicBezTo>
                  <a:pt x="98788" y="-4167"/>
                  <a:pt x="108008" y="-365"/>
                  <a:pt x="114780" y="6433"/>
                </a:cubicBezTo>
                <a:lnTo>
                  <a:pt x="131423" y="23076"/>
                </a:lnTo>
                <a:cubicBezTo>
                  <a:pt x="135329" y="26983"/>
                  <a:pt x="137517" y="32296"/>
                  <a:pt x="137517" y="37817"/>
                </a:cubicBezTo>
                <a:lnTo>
                  <a:pt x="137517" y="45865"/>
                </a:lnTo>
                <a:lnTo>
                  <a:pt x="142648" y="50996"/>
                </a:lnTo>
                <a:lnTo>
                  <a:pt x="142648" y="50996"/>
                </a:lnTo>
                <a:cubicBezTo>
                  <a:pt x="146711" y="46933"/>
                  <a:pt x="153300" y="46933"/>
                  <a:pt x="157389" y="50996"/>
                </a:cubicBezTo>
                <a:cubicBezTo>
                  <a:pt x="161479" y="55059"/>
                  <a:pt x="161452" y="61648"/>
                  <a:pt x="157389" y="65737"/>
                </a:cubicBezTo>
                <a:lnTo>
                  <a:pt x="140721" y="82406"/>
                </a:lnTo>
                <a:cubicBezTo>
                  <a:pt x="136658" y="86469"/>
                  <a:pt x="130068" y="86469"/>
                  <a:pt x="125979" y="82406"/>
                </a:cubicBezTo>
                <a:cubicBezTo>
                  <a:pt x="121890" y="78343"/>
                  <a:pt x="121916" y="71754"/>
                  <a:pt x="125979" y="67665"/>
                </a:cubicBezTo>
                <a:lnTo>
                  <a:pt x="120848" y="62508"/>
                </a:lnTo>
                <a:lnTo>
                  <a:pt x="112801" y="62508"/>
                </a:lnTo>
                <a:cubicBezTo>
                  <a:pt x="107279" y="62508"/>
                  <a:pt x="101966" y="60320"/>
                  <a:pt x="98059" y="56413"/>
                </a:cubicBezTo>
                <a:lnTo>
                  <a:pt x="85271" y="43625"/>
                </a:lnTo>
                <a:cubicBezTo>
                  <a:pt x="81364" y="39719"/>
                  <a:pt x="79177" y="34405"/>
                  <a:pt x="79177" y="28884"/>
                </a:cubicBezTo>
                <a:lnTo>
                  <a:pt x="79177" y="25576"/>
                </a:lnTo>
                <a:cubicBezTo>
                  <a:pt x="79177" y="22659"/>
                  <a:pt x="77640" y="19924"/>
                  <a:pt x="75140" y="18440"/>
                </a:cubicBezTo>
                <a:lnTo>
                  <a:pt x="64305" y="11929"/>
                </a:lnTo>
                <a:cubicBezTo>
                  <a:pt x="61596" y="10314"/>
                  <a:pt x="61596" y="6407"/>
                  <a:pt x="64305" y="4792"/>
                </a:cubicBezTo>
                <a:close/>
                <a:moveTo>
                  <a:pt x="13205" y="104883"/>
                </a:moveTo>
                <a:lnTo>
                  <a:pt x="71051" y="47037"/>
                </a:lnTo>
                <a:lnTo>
                  <a:pt x="94621" y="70608"/>
                </a:lnTo>
                <a:lnTo>
                  <a:pt x="36775" y="128454"/>
                </a:lnTo>
                <a:cubicBezTo>
                  <a:pt x="30264" y="134965"/>
                  <a:pt x="19716" y="134965"/>
                  <a:pt x="13205" y="128454"/>
                </a:cubicBezTo>
                <a:cubicBezTo>
                  <a:pt x="6694" y="121942"/>
                  <a:pt x="6694" y="111394"/>
                  <a:pt x="13205" y="104883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4" name="Text 22"/>
          <p:cNvSpPr/>
          <p:nvPr/>
        </p:nvSpPr>
        <p:spPr>
          <a:xfrm>
            <a:off x="976312" y="43815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Builder Cluster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3425" y="46482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&amp; Tests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48063" y="4267200"/>
            <a:ext cx="2819400" cy="685800"/>
          </a:xfrm>
          <a:custGeom>
            <a:avLst/>
            <a:gdLst/>
            <a:ahLst/>
            <a:cxnLst/>
            <a:rect l="l" t="t" r="r" b="b"/>
            <a:pathLst>
              <a:path w="2819400" h="685800">
                <a:moveTo>
                  <a:pt x="38100" y="0"/>
                </a:moveTo>
                <a:lnTo>
                  <a:pt x="2743201" y="0"/>
                </a:lnTo>
                <a:cubicBezTo>
                  <a:pt x="2785284" y="0"/>
                  <a:pt x="2819400" y="34116"/>
                  <a:pt x="2819400" y="76199"/>
                </a:cubicBezTo>
                <a:lnTo>
                  <a:pt x="2819400" y="609601"/>
                </a:lnTo>
                <a:cubicBezTo>
                  <a:pt x="2819400" y="651684"/>
                  <a:pt x="2785284" y="685800"/>
                  <a:pt x="27432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48063" y="42672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8" name="Shape 26"/>
          <p:cNvSpPr/>
          <p:nvPr/>
        </p:nvSpPr>
        <p:spPr>
          <a:xfrm>
            <a:off x="3700463" y="4429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3337" y="83344"/>
                </a:moveTo>
                <a:lnTo>
                  <a:pt x="6381" y="83344"/>
                </a:lnTo>
                <a:cubicBezTo>
                  <a:pt x="-104" y="83344"/>
                  <a:pt x="-4089" y="76286"/>
                  <a:pt x="-755" y="70712"/>
                </a:cubicBezTo>
                <a:lnTo>
                  <a:pt x="13022" y="47740"/>
                </a:lnTo>
                <a:cubicBezTo>
                  <a:pt x="15288" y="43964"/>
                  <a:pt x="19351" y="41672"/>
                  <a:pt x="23753" y="41672"/>
                </a:cubicBezTo>
                <a:lnTo>
                  <a:pt x="48496" y="41672"/>
                </a:lnTo>
                <a:cubicBezTo>
                  <a:pt x="68316" y="8100"/>
                  <a:pt x="97877" y="6407"/>
                  <a:pt x="117645" y="9298"/>
                </a:cubicBezTo>
                <a:cubicBezTo>
                  <a:pt x="120979" y="9793"/>
                  <a:pt x="123583" y="12397"/>
                  <a:pt x="124052" y="15705"/>
                </a:cubicBezTo>
                <a:cubicBezTo>
                  <a:pt x="126943" y="35473"/>
                  <a:pt x="125250" y="65034"/>
                  <a:pt x="91678" y="84854"/>
                </a:cubicBezTo>
                <a:lnTo>
                  <a:pt x="91678" y="109597"/>
                </a:lnTo>
                <a:cubicBezTo>
                  <a:pt x="91678" y="113999"/>
                  <a:pt x="89386" y="118062"/>
                  <a:pt x="85610" y="120328"/>
                </a:cubicBezTo>
                <a:lnTo>
                  <a:pt x="62638" y="134105"/>
                </a:lnTo>
                <a:cubicBezTo>
                  <a:pt x="57090" y="137439"/>
                  <a:pt x="50006" y="133428"/>
                  <a:pt x="50006" y="126969"/>
                </a:cubicBezTo>
                <a:lnTo>
                  <a:pt x="50006" y="100013"/>
                </a:lnTo>
                <a:cubicBezTo>
                  <a:pt x="50006" y="90819"/>
                  <a:pt x="42531" y="83344"/>
                  <a:pt x="33337" y="83344"/>
                </a:cubicBezTo>
                <a:lnTo>
                  <a:pt x="33311" y="83344"/>
                </a:lnTo>
                <a:close/>
                <a:moveTo>
                  <a:pt x="104180" y="41672"/>
                </a:moveTo>
                <a:cubicBezTo>
                  <a:pt x="104180" y="34772"/>
                  <a:pt x="98578" y="29170"/>
                  <a:pt x="91678" y="29170"/>
                </a:cubicBezTo>
                <a:cubicBezTo>
                  <a:pt x="84778" y="29170"/>
                  <a:pt x="79177" y="34772"/>
                  <a:pt x="79177" y="41672"/>
                </a:cubicBezTo>
                <a:cubicBezTo>
                  <a:pt x="79177" y="48572"/>
                  <a:pt x="84778" y="54173"/>
                  <a:pt x="91678" y="54173"/>
                </a:cubicBezTo>
                <a:cubicBezTo>
                  <a:pt x="98578" y="54173"/>
                  <a:pt x="104180" y="48572"/>
                  <a:pt x="104180" y="41672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9" name="Text 27"/>
          <p:cNvSpPr/>
          <p:nvPr/>
        </p:nvSpPr>
        <p:spPr>
          <a:xfrm>
            <a:off x="3924300" y="438150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DevOps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681413" y="46482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&amp; Manifest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0075" y="5067300"/>
            <a:ext cx="2819400" cy="685800"/>
          </a:xfrm>
          <a:custGeom>
            <a:avLst/>
            <a:gdLst/>
            <a:ahLst/>
            <a:cxnLst/>
            <a:rect l="l" t="t" r="r" b="b"/>
            <a:pathLst>
              <a:path w="2819400" h="685800">
                <a:moveTo>
                  <a:pt x="38100" y="0"/>
                </a:moveTo>
                <a:lnTo>
                  <a:pt x="2743201" y="0"/>
                </a:lnTo>
                <a:cubicBezTo>
                  <a:pt x="2785284" y="0"/>
                  <a:pt x="2819400" y="34116"/>
                  <a:pt x="2819400" y="76199"/>
                </a:cubicBezTo>
                <a:lnTo>
                  <a:pt x="2819400" y="609601"/>
                </a:lnTo>
                <a:cubicBezTo>
                  <a:pt x="2819400" y="651684"/>
                  <a:pt x="2785284" y="685800"/>
                  <a:pt x="27432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00075" y="50673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33" name="Shape 31"/>
          <p:cNvSpPr/>
          <p:nvPr/>
        </p:nvSpPr>
        <p:spPr>
          <a:xfrm>
            <a:off x="752475" y="52292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4" name="Text 32"/>
          <p:cNvSpPr/>
          <p:nvPr/>
        </p:nvSpPr>
        <p:spPr>
          <a:xfrm>
            <a:off x="976312" y="5181600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3425" y="54483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&amp; Scan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548063" y="5067300"/>
            <a:ext cx="2819400" cy="685800"/>
          </a:xfrm>
          <a:custGeom>
            <a:avLst/>
            <a:gdLst/>
            <a:ahLst/>
            <a:cxnLst/>
            <a:rect l="l" t="t" r="r" b="b"/>
            <a:pathLst>
              <a:path w="2819400" h="685800">
                <a:moveTo>
                  <a:pt x="38100" y="0"/>
                </a:moveTo>
                <a:lnTo>
                  <a:pt x="2743201" y="0"/>
                </a:lnTo>
                <a:cubicBezTo>
                  <a:pt x="2785284" y="0"/>
                  <a:pt x="2819400" y="34116"/>
                  <a:pt x="2819400" y="76199"/>
                </a:cubicBezTo>
                <a:lnTo>
                  <a:pt x="2819400" y="609601"/>
                </a:lnTo>
                <a:cubicBezTo>
                  <a:pt x="2819400" y="651684"/>
                  <a:pt x="2785284" y="685800"/>
                  <a:pt x="2743201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548063" y="50673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38" name="Shape 36"/>
          <p:cNvSpPr/>
          <p:nvPr/>
        </p:nvSpPr>
        <p:spPr>
          <a:xfrm>
            <a:off x="3692128" y="52292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50006" y="25003"/>
                </a:moveTo>
                <a:cubicBezTo>
                  <a:pt x="50006" y="11199"/>
                  <a:pt x="61206" y="0"/>
                  <a:pt x="75009" y="0"/>
                </a:cubicBezTo>
                <a:cubicBezTo>
                  <a:pt x="88813" y="0"/>
                  <a:pt x="100013" y="11199"/>
                  <a:pt x="100013" y="25003"/>
                </a:cubicBezTo>
                <a:lnTo>
                  <a:pt x="100013" y="25941"/>
                </a:lnTo>
                <a:cubicBezTo>
                  <a:pt x="100013" y="30030"/>
                  <a:pt x="96705" y="33337"/>
                  <a:pt x="92616" y="33337"/>
                </a:cubicBezTo>
                <a:lnTo>
                  <a:pt x="57429" y="33337"/>
                </a:lnTo>
                <a:cubicBezTo>
                  <a:pt x="53340" y="33337"/>
                  <a:pt x="50032" y="30030"/>
                  <a:pt x="50032" y="25941"/>
                </a:cubicBezTo>
                <a:lnTo>
                  <a:pt x="50032" y="25003"/>
                </a:lnTo>
                <a:close/>
                <a:moveTo>
                  <a:pt x="140018" y="28337"/>
                </a:moveTo>
                <a:cubicBezTo>
                  <a:pt x="142778" y="32009"/>
                  <a:pt x="142023" y="37244"/>
                  <a:pt x="138351" y="40005"/>
                </a:cubicBezTo>
                <a:lnTo>
                  <a:pt x="112879" y="59096"/>
                </a:lnTo>
                <a:cubicBezTo>
                  <a:pt x="114259" y="61414"/>
                  <a:pt x="115301" y="63966"/>
                  <a:pt x="115952" y="66675"/>
                </a:cubicBezTo>
                <a:lnTo>
                  <a:pt x="141684" y="66675"/>
                </a:lnTo>
                <a:cubicBezTo>
                  <a:pt x="146294" y="66675"/>
                  <a:pt x="150019" y="70399"/>
                  <a:pt x="150019" y="75009"/>
                </a:cubicBezTo>
                <a:cubicBezTo>
                  <a:pt x="150019" y="79619"/>
                  <a:pt x="146294" y="83344"/>
                  <a:pt x="141684" y="83344"/>
                </a:cubicBezTo>
                <a:lnTo>
                  <a:pt x="116681" y="83344"/>
                </a:lnTo>
                <a:lnTo>
                  <a:pt x="116681" y="91678"/>
                </a:lnTo>
                <a:cubicBezTo>
                  <a:pt x="116681" y="92355"/>
                  <a:pt x="116655" y="93059"/>
                  <a:pt x="116629" y="93736"/>
                </a:cubicBezTo>
                <a:lnTo>
                  <a:pt x="138351" y="110014"/>
                </a:lnTo>
                <a:cubicBezTo>
                  <a:pt x="142023" y="112775"/>
                  <a:pt x="142778" y="118010"/>
                  <a:pt x="140018" y="121682"/>
                </a:cubicBezTo>
                <a:cubicBezTo>
                  <a:pt x="137257" y="125354"/>
                  <a:pt x="132022" y="126110"/>
                  <a:pt x="128349" y="123349"/>
                </a:cubicBezTo>
                <a:lnTo>
                  <a:pt x="111915" y="111030"/>
                </a:lnTo>
                <a:cubicBezTo>
                  <a:pt x="105873" y="122541"/>
                  <a:pt x="94595" y="130876"/>
                  <a:pt x="81260" y="132881"/>
                </a:cubicBezTo>
                <a:lnTo>
                  <a:pt x="81260" y="72926"/>
                </a:lnTo>
                <a:cubicBezTo>
                  <a:pt x="81260" y="69462"/>
                  <a:pt x="78473" y="66675"/>
                  <a:pt x="75009" y="66675"/>
                </a:cubicBezTo>
                <a:cubicBezTo>
                  <a:pt x="71545" y="66675"/>
                  <a:pt x="68759" y="69462"/>
                  <a:pt x="68759" y="72926"/>
                </a:cubicBezTo>
                <a:lnTo>
                  <a:pt x="68759" y="132881"/>
                </a:lnTo>
                <a:cubicBezTo>
                  <a:pt x="55424" y="130876"/>
                  <a:pt x="44146" y="122541"/>
                  <a:pt x="38104" y="111030"/>
                </a:cubicBezTo>
                <a:lnTo>
                  <a:pt x="21669" y="123349"/>
                </a:lnTo>
                <a:cubicBezTo>
                  <a:pt x="17997" y="126110"/>
                  <a:pt x="12762" y="125354"/>
                  <a:pt x="10001" y="121682"/>
                </a:cubicBezTo>
                <a:cubicBezTo>
                  <a:pt x="7240" y="118010"/>
                  <a:pt x="7996" y="112775"/>
                  <a:pt x="11668" y="110014"/>
                </a:cubicBezTo>
                <a:lnTo>
                  <a:pt x="33390" y="93736"/>
                </a:lnTo>
                <a:cubicBezTo>
                  <a:pt x="33364" y="93059"/>
                  <a:pt x="33338" y="92381"/>
                  <a:pt x="33338" y="91678"/>
                </a:cubicBezTo>
                <a:lnTo>
                  <a:pt x="33338" y="83344"/>
                </a:lnTo>
                <a:lnTo>
                  <a:pt x="8334" y="83344"/>
                </a:lnTo>
                <a:cubicBezTo>
                  <a:pt x="3724" y="83344"/>
                  <a:pt x="0" y="79619"/>
                  <a:pt x="0" y="75009"/>
                </a:cubicBezTo>
                <a:cubicBezTo>
                  <a:pt x="0" y="70399"/>
                  <a:pt x="3724" y="66675"/>
                  <a:pt x="8334" y="66675"/>
                </a:cubicBezTo>
                <a:lnTo>
                  <a:pt x="34067" y="66675"/>
                </a:lnTo>
                <a:cubicBezTo>
                  <a:pt x="34718" y="63966"/>
                  <a:pt x="35760" y="61414"/>
                  <a:pt x="37140" y="59096"/>
                </a:cubicBezTo>
                <a:lnTo>
                  <a:pt x="11668" y="40005"/>
                </a:lnTo>
                <a:cubicBezTo>
                  <a:pt x="7996" y="37244"/>
                  <a:pt x="7240" y="32009"/>
                  <a:pt x="10001" y="28337"/>
                </a:cubicBezTo>
                <a:cubicBezTo>
                  <a:pt x="12762" y="24665"/>
                  <a:pt x="17997" y="23909"/>
                  <a:pt x="21669" y="26670"/>
                </a:cubicBezTo>
                <a:lnTo>
                  <a:pt x="50006" y="47923"/>
                </a:lnTo>
                <a:cubicBezTo>
                  <a:pt x="53210" y="46594"/>
                  <a:pt x="56726" y="45839"/>
                  <a:pt x="60424" y="45839"/>
                </a:cubicBezTo>
                <a:lnTo>
                  <a:pt x="89595" y="45839"/>
                </a:lnTo>
                <a:cubicBezTo>
                  <a:pt x="93293" y="45839"/>
                  <a:pt x="96809" y="46568"/>
                  <a:pt x="100013" y="47923"/>
                </a:cubicBezTo>
                <a:lnTo>
                  <a:pt x="128349" y="26670"/>
                </a:lnTo>
                <a:cubicBezTo>
                  <a:pt x="132022" y="23909"/>
                  <a:pt x="137257" y="24665"/>
                  <a:pt x="140018" y="28337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9" name="Text 37"/>
          <p:cNvSpPr/>
          <p:nvPr/>
        </p:nvSpPr>
        <p:spPr>
          <a:xfrm>
            <a:off x="3924300" y="5181600"/>
            <a:ext cx="514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Sentry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681413" y="54483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E2E QA &amp; Healing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00075" y="5867400"/>
            <a:ext cx="5762625" cy="685800"/>
          </a:xfrm>
          <a:custGeom>
            <a:avLst/>
            <a:gdLst/>
            <a:ahLst/>
            <a:cxnLst/>
            <a:rect l="l" t="t" r="r" b="b"/>
            <a:pathLst>
              <a:path w="5762625" h="685800">
                <a:moveTo>
                  <a:pt x="38100" y="0"/>
                </a:moveTo>
                <a:lnTo>
                  <a:pt x="5686426" y="0"/>
                </a:lnTo>
                <a:cubicBezTo>
                  <a:pt x="5728509" y="0"/>
                  <a:pt x="5762625" y="34116"/>
                  <a:pt x="5762625" y="76199"/>
                </a:cubicBezTo>
                <a:lnTo>
                  <a:pt x="5762625" y="609601"/>
                </a:lnTo>
                <a:cubicBezTo>
                  <a:pt x="5762625" y="651684"/>
                  <a:pt x="5728509" y="685800"/>
                  <a:pt x="5686426" y="685800"/>
                </a:cubicBez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0075" y="5867400"/>
            <a:ext cx="38100" cy="685800"/>
          </a:xfrm>
          <a:custGeom>
            <a:avLst/>
            <a:gdLst/>
            <a:ahLst/>
            <a:cxnLst/>
            <a:rect l="l" t="t" r="r" b="b"/>
            <a:pathLst>
              <a:path w="38100" h="685800">
                <a:moveTo>
                  <a:pt x="38100" y="0"/>
                </a:moveTo>
                <a:lnTo>
                  <a:pt x="38100" y="0"/>
                </a:lnTo>
                <a:lnTo>
                  <a:pt x="38100" y="685800"/>
                </a:lnTo>
                <a:lnTo>
                  <a:pt x="38100" y="685800"/>
                </a:lnTo>
                <a:cubicBezTo>
                  <a:pt x="17072" y="685800"/>
                  <a:pt x="0" y="668728"/>
                  <a:pt x="0" y="647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43" name="Shape 41"/>
          <p:cNvSpPr/>
          <p:nvPr/>
        </p:nvSpPr>
        <p:spPr>
          <a:xfrm>
            <a:off x="744141" y="60293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44" name="Text 42"/>
          <p:cNvSpPr/>
          <p:nvPr/>
        </p:nvSpPr>
        <p:spPr>
          <a:xfrm>
            <a:off x="976312" y="5981700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Overwatch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3425" y="6248400"/>
            <a:ext cx="558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Monitoring &amp; Anomaly Detection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757988" y="1423988"/>
            <a:ext cx="5048250" cy="3333750"/>
          </a:xfrm>
          <a:custGeom>
            <a:avLst/>
            <a:gdLst/>
            <a:ahLst/>
            <a:cxnLst/>
            <a:rect l="l" t="t" r="r" b="b"/>
            <a:pathLst>
              <a:path w="5048250" h="3333750">
                <a:moveTo>
                  <a:pt x="76210" y="0"/>
                </a:moveTo>
                <a:lnTo>
                  <a:pt x="4972040" y="0"/>
                </a:lnTo>
                <a:cubicBezTo>
                  <a:pt x="5014130" y="0"/>
                  <a:pt x="5048250" y="34120"/>
                  <a:pt x="5048250" y="76210"/>
                </a:cubicBezTo>
                <a:lnTo>
                  <a:pt x="5048250" y="3257540"/>
                </a:lnTo>
                <a:cubicBezTo>
                  <a:pt x="5048250" y="3299630"/>
                  <a:pt x="5014130" y="3333750"/>
                  <a:pt x="4972040" y="3333750"/>
                </a:cubicBezTo>
                <a:lnTo>
                  <a:pt x="76210" y="3333750"/>
                </a:lnTo>
                <a:cubicBezTo>
                  <a:pt x="34120" y="3333750"/>
                  <a:pt x="0" y="3299630"/>
                  <a:pt x="0" y="32575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00875" y="16573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48" name="Text 46"/>
          <p:cNvSpPr/>
          <p:nvPr/>
        </p:nvSpPr>
        <p:spPr>
          <a:xfrm>
            <a:off x="7191375" y="161925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Moat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62775" y="20764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669" y="67151"/>
                </a:moveTo>
                <a:lnTo>
                  <a:pt x="9644" y="88166"/>
                </a:lnTo>
                <a:lnTo>
                  <a:pt x="9644" y="28575"/>
                </a:lnTo>
                <a:cubicBezTo>
                  <a:pt x="9644" y="18068"/>
                  <a:pt x="18187" y="9525"/>
                  <a:pt x="28694" y="9525"/>
                </a:cubicBezTo>
                <a:lnTo>
                  <a:pt x="69979" y="9525"/>
                </a:lnTo>
                <a:cubicBezTo>
                  <a:pt x="74087" y="9525"/>
                  <a:pt x="78105" y="10864"/>
                  <a:pt x="81409" y="13335"/>
                </a:cubicBezTo>
                <a:lnTo>
                  <a:pt x="92839" y="21908"/>
                </a:lnTo>
                <a:cubicBezTo>
                  <a:pt x="94476" y="23158"/>
                  <a:pt x="96500" y="23813"/>
                  <a:pt x="98554" y="23813"/>
                </a:cubicBezTo>
                <a:lnTo>
                  <a:pt x="133469" y="23813"/>
                </a:lnTo>
                <a:cubicBezTo>
                  <a:pt x="143976" y="23813"/>
                  <a:pt x="152519" y="32355"/>
                  <a:pt x="152519" y="42863"/>
                </a:cubicBezTo>
                <a:lnTo>
                  <a:pt x="152519" y="47625"/>
                </a:lnTo>
                <a:lnTo>
                  <a:pt x="43755" y="47625"/>
                </a:lnTo>
                <a:cubicBezTo>
                  <a:pt x="31462" y="47625"/>
                  <a:pt x="20538" y="55483"/>
                  <a:pt x="16639" y="67151"/>
                </a:cubicBezTo>
                <a:close/>
                <a:moveTo>
                  <a:pt x="142220" y="133350"/>
                </a:moveTo>
                <a:lnTo>
                  <a:pt x="29468" y="133350"/>
                </a:lnTo>
                <a:cubicBezTo>
                  <a:pt x="19705" y="133350"/>
                  <a:pt x="12829" y="123795"/>
                  <a:pt x="15925" y="114538"/>
                </a:cubicBezTo>
                <a:lnTo>
                  <a:pt x="30212" y="71676"/>
                </a:lnTo>
                <a:cubicBezTo>
                  <a:pt x="32147" y="65842"/>
                  <a:pt x="37624" y="61912"/>
                  <a:pt x="43755" y="61912"/>
                </a:cubicBezTo>
                <a:lnTo>
                  <a:pt x="156508" y="61912"/>
                </a:lnTo>
                <a:cubicBezTo>
                  <a:pt x="166271" y="61912"/>
                  <a:pt x="173147" y="71467"/>
                  <a:pt x="170051" y="80724"/>
                </a:cubicBezTo>
                <a:lnTo>
                  <a:pt x="155764" y="123587"/>
                </a:lnTo>
                <a:cubicBezTo>
                  <a:pt x="153829" y="129421"/>
                  <a:pt x="148352" y="133350"/>
                  <a:pt x="142220" y="13335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50" name="Text 48"/>
          <p:cNvSpPr/>
          <p:nvPr/>
        </p:nvSpPr>
        <p:spPr>
          <a:xfrm>
            <a:off x="7219950" y="2038350"/>
            <a:ext cx="2181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Artifact-Driven Communication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53250" y="2343150"/>
            <a:ext cx="472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agents communicate exclusively through a Shared Filesystem. Every handoff is a file write; every pickup is a file read.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981825" y="29670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53" name="Text 51"/>
          <p:cNvSpPr/>
          <p:nvPr/>
        </p:nvSpPr>
        <p:spPr>
          <a:xfrm>
            <a:off x="7219950" y="2928938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Activation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53250" y="3233738"/>
            <a:ext cx="472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Agents are activated by file events, not direct API calls. This ensures deterministic, reproducible, and auditable pipelines.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972300" y="3857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56" name="Text 54"/>
          <p:cNvSpPr/>
          <p:nvPr/>
        </p:nvSpPr>
        <p:spPr>
          <a:xfrm>
            <a:off x="7219950" y="3819525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Pipeline Modes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953250" y="4124325"/>
            <a:ext cx="472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modes—Solo, Team, Factory—scale with task complexity. The system adapts from prototypes to production systems.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757988" y="4914900"/>
            <a:ext cx="5048250" cy="1266825"/>
          </a:xfrm>
          <a:custGeom>
            <a:avLst/>
            <a:gdLst/>
            <a:ahLst/>
            <a:cxnLst/>
            <a:rect l="l" t="t" r="r" b="b"/>
            <a:pathLst>
              <a:path w="5048250" h="1266825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1190625"/>
                </a:lnTo>
                <a:cubicBezTo>
                  <a:pt x="5048250" y="1232709"/>
                  <a:pt x="5014134" y="1266825"/>
                  <a:pt x="4972050" y="1266825"/>
                </a:cubicBezTo>
                <a:lnTo>
                  <a:pt x="76200" y="1266825"/>
                </a:lnTo>
                <a:cubicBezTo>
                  <a:pt x="34116" y="1266825"/>
                  <a:pt x="0" y="1232709"/>
                  <a:pt x="0" y="11906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gradFill rotWithShape="1" flip="none">
            <a:gsLst>
              <a:gs pos="0">
                <a:srgbClr val="778DA9">
                  <a:alpha val="30000"/>
                </a:srgbClr>
              </a:gs>
              <a:gs pos="100000">
                <a:srgbClr val="415A77">
                  <a:alpha val="20000"/>
                </a:srgbClr>
              </a:gs>
            </a:gsLst>
            <a:lin ang="0" scaled="1"/>
          </a:gradFill>
          <a:ln w="12700">
            <a:solidFill>
              <a:srgbClr val="778DA9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81825" y="512921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60" name="Text 58"/>
          <p:cNvSpPr/>
          <p:nvPr/>
        </p:nvSpPr>
        <p:spPr>
          <a:xfrm>
            <a:off x="7353300" y="5110163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953250" y="5491163"/>
            <a:ext cx="4733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We've built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hardest version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this problem. If we can autonomously build software, we can automate any expert workflow.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6856" y="346856"/>
            <a:ext cx="11558987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b="1" spc="96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6856" y="589656"/>
            <a:ext cx="11654373" cy="390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58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Synctropic Marketplace: An Economy of Expertise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856" y="1083926"/>
            <a:ext cx="832455" cy="34686"/>
          </a:xfrm>
          <a:custGeom>
            <a:avLst/>
            <a:gdLst/>
            <a:ahLst/>
            <a:cxnLst/>
            <a:rect l="l" t="t" r="r" b="b"/>
            <a:pathLst>
              <a:path w="832455" h="34686">
                <a:moveTo>
                  <a:pt x="0" y="0"/>
                </a:moveTo>
                <a:lnTo>
                  <a:pt x="832455" y="0"/>
                </a:lnTo>
                <a:lnTo>
                  <a:pt x="832455" y="34686"/>
                </a:lnTo>
                <a:lnTo>
                  <a:pt x="0" y="34686"/>
                </a:lnTo>
                <a:lnTo>
                  <a:pt x="0" y="0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5" name="Shape 3"/>
          <p:cNvSpPr/>
          <p:nvPr/>
        </p:nvSpPr>
        <p:spPr>
          <a:xfrm>
            <a:off x="351192" y="1296376"/>
            <a:ext cx="6789713" cy="3806748"/>
          </a:xfrm>
          <a:custGeom>
            <a:avLst/>
            <a:gdLst/>
            <a:ahLst/>
            <a:cxnLst/>
            <a:rect l="l" t="t" r="r" b="b"/>
            <a:pathLst>
              <a:path w="6789713" h="3806748">
                <a:moveTo>
                  <a:pt x="69359" y="0"/>
                </a:moveTo>
                <a:lnTo>
                  <a:pt x="6720354" y="0"/>
                </a:lnTo>
                <a:cubicBezTo>
                  <a:pt x="6758660" y="0"/>
                  <a:pt x="6789713" y="31053"/>
                  <a:pt x="6789713" y="69359"/>
                </a:cubicBezTo>
                <a:lnTo>
                  <a:pt x="6789713" y="3737389"/>
                </a:lnTo>
                <a:cubicBezTo>
                  <a:pt x="6789713" y="3775695"/>
                  <a:pt x="6758660" y="3806748"/>
                  <a:pt x="6720354" y="3806748"/>
                </a:cubicBezTo>
                <a:lnTo>
                  <a:pt x="69359" y="3806748"/>
                </a:lnTo>
                <a:cubicBezTo>
                  <a:pt x="31053" y="3806748"/>
                  <a:pt x="0" y="3775695"/>
                  <a:pt x="0" y="3737389"/>
                </a:cubicBezTo>
                <a:lnTo>
                  <a:pt x="0" y="69359"/>
                </a:lnTo>
                <a:cubicBezTo>
                  <a:pt x="0" y="31079"/>
                  <a:pt x="31079" y="0"/>
                  <a:pt x="69359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9656" y="1543511"/>
            <a:ext cx="208114" cy="208114"/>
          </a:xfrm>
          <a:custGeom>
            <a:avLst/>
            <a:gdLst/>
            <a:ahLst/>
            <a:cxnLst/>
            <a:rect l="l" t="t" r="r" b="b"/>
            <a:pathLst>
              <a:path w="208114" h="208114">
                <a:moveTo>
                  <a:pt x="195147" y="78043"/>
                </a:moveTo>
                <a:lnTo>
                  <a:pt x="198358" y="78043"/>
                </a:lnTo>
                <a:cubicBezTo>
                  <a:pt x="203765" y="78043"/>
                  <a:pt x="208114" y="73693"/>
                  <a:pt x="208114" y="68287"/>
                </a:cubicBezTo>
                <a:lnTo>
                  <a:pt x="208114" y="9755"/>
                </a:lnTo>
                <a:cubicBezTo>
                  <a:pt x="208114" y="5813"/>
                  <a:pt x="205756" y="2236"/>
                  <a:pt x="202098" y="732"/>
                </a:cubicBezTo>
                <a:cubicBezTo>
                  <a:pt x="198440" y="-772"/>
                  <a:pt x="194253" y="81"/>
                  <a:pt x="191448" y="2845"/>
                </a:cubicBezTo>
                <a:lnTo>
                  <a:pt x="170434" y="23901"/>
                </a:lnTo>
                <a:cubicBezTo>
                  <a:pt x="152427" y="8983"/>
                  <a:pt x="129258" y="0"/>
                  <a:pt x="104057" y="0"/>
                </a:cubicBezTo>
                <a:cubicBezTo>
                  <a:pt x="51622" y="0"/>
                  <a:pt x="8251" y="38777"/>
                  <a:pt x="1057" y="89221"/>
                </a:cubicBezTo>
                <a:cubicBezTo>
                  <a:pt x="41" y="96334"/>
                  <a:pt x="4959" y="102919"/>
                  <a:pt x="12072" y="103935"/>
                </a:cubicBezTo>
                <a:cubicBezTo>
                  <a:pt x="19185" y="104951"/>
                  <a:pt x="25770" y="99992"/>
                  <a:pt x="26787" y="92920"/>
                </a:cubicBezTo>
                <a:cubicBezTo>
                  <a:pt x="32193" y="55077"/>
                  <a:pt x="64751" y="26014"/>
                  <a:pt x="104057" y="26014"/>
                </a:cubicBezTo>
                <a:cubicBezTo>
                  <a:pt x="122104" y="26014"/>
                  <a:pt x="138688" y="32111"/>
                  <a:pt x="151899" y="42395"/>
                </a:cubicBezTo>
                <a:lnTo>
                  <a:pt x="132916" y="61377"/>
                </a:lnTo>
                <a:cubicBezTo>
                  <a:pt x="130112" y="64182"/>
                  <a:pt x="129299" y="68369"/>
                  <a:pt x="130803" y="72027"/>
                </a:cubicBezTo>
                <a:cubicBezTo>
                  <a:pt x="132307" y="75685"/>
                  <a:pt x="135884" y="78043"/>
                  <a:pt x="139826" y="78043"/>
                </a:cubicBezTo>
                <a:lnTo>
                  <a:pt x="195147" y="78043"/>
                </a:lnTo>
                <a:close/>
                <a:moveTo>
                  <a:pt x="207098" y="118893"/>
                </a:moveTo>
                <a:cubicBezTo>
                  <a:pt x="208114" y="111780"/>
                  <a:pt x="203155" y="105195"/>
                  <a:pt x="196082" y="104179"/>
                </a:cubicBezTo>
                <a:cubicBezTo>
                  <a:pt x="189010" y="103163"/>
                  <a:pt x="182384" y="108122"/>
                  <a:pt x="181368" y="115194"/>
                </a:cubicBezTo>
                <a:cubicBezTo>
                  <a:pt x="175962" y="152996"/>
                  <a:pt x="143403" y="182059"/>
                  <a:pt x="104098" y="182059"/>
                </a:cubicBezTo>
                <a:cubicBezTo>
                  <a:pt x="86050" y="182059"/>
                  <a:pt x="69466" y="175962"/>
                  <a:pt x="56256" y="165678"/>
                </a:cubicBezTo>
                <a:lnTo>
                  <a:pt x="75197" y="146736"/>
                </a:lnTo>
                <a:cubicBezTo>
                  <a:pt x="78002" y="143932"/>
                  <a:pt x="78815" y="139745"/>
                  <a:pt x="77311" y="136087"/>
                </a:cubicBezTo>
                <a:cubicBezTo>
                  <a:pt x="75807" y="132429"/>
                  <a:pt x="72230" y="130071"/>
                  <a:pt x="68287" y="130071"/>
                </a:cubicBezTo>
                <a:lnTo>
                  <a:pt x="9755" y="130071"/>
                </a:lnTo>
                <a:cubicBezTo>
                  <a:pt x="4349" y="130071"/>
                  <a:pt x="0" y="134420"/>
                  <a:pt x="0" y="139826"/>
                </a:cubicBezTo>
                <a:lnTo>
                  <a:pt x="0" y="198358"/>
                </a:lnTo>
                <a:cubicBezTo>
                  <a:pt x="0" y="202301"/>
                  <a:pt x="2358" y="205878"/>
                  <a:pt x="6016" y="207382"/>
                </a:cubicBezTo>
                <a:cubicBezTo>
                  <a:pt x="9674" y="208886"/>
                  <a:pt x="13861" y="208033"/>
                  <a:pt x="16665" y="205268"/>
                </a:cubicBezTo>
                <a:lnTo>
                  <a:pt x="37721" y="184213"/>
                </a:lnTo>
                <a:cubicBezTo>
                  <a:pt x="55687" y="199131"/>
                  <a:pt x="78856" y="208114"/>
                  <a:pt x="104057" y="208114"/>
                </a:cubicBezTo>
                <a:cubicBezTo>
                  <a:pt x="156492" y="208114"/>
                  <a:pt x="199862" y="169336"/>
                  <a:pt x="207057" y="118893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7" name="Text 5"/>
          <p:cNvSpPr/>
          <p:nvPr/>
        </p:nvSpPr>
        <p:spPr>
          <a:xfrm>
            <a:off x="823784" y="1508825"/>
            <a:ext cx="6208728" cy="277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39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Flywheel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3642" y="1959738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242799" y="0"/>
                </a:moveTo>
                <a:lnTo>
                  <a:pt x="242799" y="0"/>
                </a:lnTo>
                <a:cubicBezTo>
                  <a:pt x="376804" y="0"/>
                  <a:pt x="485599" y="108795"/>
                  <a:pt x="485599" y="242799"/>
                </a:cubicBezTo>
                <a:lnTo>
                  <a:pt x="485599" y="242799"/>
                </a:lnTo>
                <a:cubicBezTo>
                  <a:pt x="485599" y="376804"/>
                  <a:pt x="376804" y="485599"/>
                  <a:pt x="242799" y="485599"/>
                </a:cubicBezTo>
                <a:lnTo>
                  <a:pt x="242799" y="485599"/>
                </a:lnTo>
                <a:cubicBezTo>
                  <a:pt x="108795" y="485599"/>
                  <a:pt x="0" y="376804"/>
                  <a:pt x="0" y="242799"/>
                </a:cubicBezTo>
                <a:lnTo>
                  <a:pt x="0" y="242799"/>
                </a:lnTo>
                <a:cubicBezTo>
                  <a:pt x="0" y="108795"/>
                  <a:pt x="108795" y="0"/>
                  <a:pt x="242799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9" name="Shape 7"/>
          <p:cNvSpPr/>
          <p:nvPr/>
        </p:nvSpPr>
        <p:spPr>
          <a:xfrm>
            <a:off x="708888" y="2115824"/>
            <a:ext cx="195107" cy="173428"/>
          </a:xfrm>
          <a:custGeom>
            <a:avLst/>
            <a:gdLst/>
            <a:ahLst/>
            <a:cxnLst/>
            <a:rect l="l" t="t" r="r" b="b"/>
            <a:pathLst>
              <a:path w="195107" h="173428">
                <a:moveTo>
                  <a:pt x="75909" y="32890"/>
                </a:moveTo>
                <a:lnTo>
                  <a:pt x="75909" y="49691"/>
                </a:lnTo>
                <a:lnTo>
                  <a:pt x="76078" y="49861"/>
                </a:lnTo>
                <a:cubicBezTo>
                  <a:pt x="78280" y="21950"/>
                  <a:pt x="101618" y="0"/>
                  <a:pt x="130105" y="0"/>
                </a:cubicBezTo>
                <a:cubicBezTo>
                  <a:pt x="136913" y="0"/>
                  <a:pt x="143451" y="1253"/>
                  <a:pt x="149446" y="3557"/>
                </a:cubicBezTo>
                <a:cubicBezTo>
                  <a:pt x="152834" y="4844"/>
                  <a:pt x="153443" y="9146"/>
                  <a:pt x="150903" y="11720"/>
                </a:cubicBezTo>
                <a:lnTo>
                  <a:pt x="120858" y="41765"/>
                </a:lnTo>
                <a:cubicBezTo>
                  <a:pt x="119842" y="42781"/>
                  <a:pt x="119266" y="44170"/>
                  <a:pt x="119266" y="45593"/>
                </a:cubicBezTo>
                <a:lnTo>
                  <a:pt x="119266" y="59616"/>
                </a:lnTo>
                <a:cubicBezTo>
                  <a:pt x="119266" y="62597"/>
                  <a:pt x="121705" y="65036"/>
                  <a:pt x="124685" y="65036"/>
                </a:cubicBezTo>
                <a:lnTo>
                  <a:pt x="138709" y="65036"/>
                </a:lnTo>
                <a:cubicBezTo>
                  <a:pt x="140131" y="65036"/>
                  <a:pt x="141520" y="64460"/>
                  <a:pt x="142536" y="63444"/>
                </a:cubicBezTo>
                <a:lnTo>
                  <a:pt x="172581" y="33398"/>
                </a:lnTo>
                <a:cubicBezTo>
                  <a:pt x="175156" y="30824"/>
                  <a:pt x="179458" y="31468"/>
                  <a:pt x="180745" y="34855"/>
                </a:cubicBezTo>
                <a:cubicBezTo>
                  <a:pt x="183048" y="40850"/>
                  <a:pt x="184301" y="47388"/>
                  <a:pt x="184301" y="54196"/>
                </a:cubicBezTo>
                <a:cubicBezTo>
                  <a:pt x="184301" y="74723"/>
                  <a:pt x="172886" y="92608"/>
                  <a:pt x="156018" y="101787"/>
                </a:cubicBezTo>
                <a:lnTo>
                  <a:pt x="183624" y="129394"/>
                </a:lnTo>
                <a:cubicBezTo>
                  <a:pt x="189958" y="135728"/>
                  <a:pt x="189958" y="146025"/>
                  <a:pt x="183624" y="152393"/>
                </a:cubicBezTo>
                <a:lnTo>
                  <a:pt x="163266" y="172751"/>
                </a:lnTo>
                <a:cubicBezTo>
                  <a:pt x="156932" y="179085"/>
                  <a:pt x="146635" y="179085"/>
                  <a:pt x="140267" y="172751"/>
                </a:cubicBezTo>
                <a:lnTo>
                  <a:pt x="97587" y="130071"/>
                </a:lnTo>
                <a:cubicBezTo>
                  <a:pt x="88306" y="120790"/>
                  <a:pt x="86206" y="107072"/>
                  <a:pt x="91321" y="95758"/>
                </a:cubicBezTo>
                <a:lnTo>
                  <a:pt x="60598" y="65036"/>
                </a:lnTo>
                <a:lnTo>
                  <a:pt x="43797" y="65036"/>
                </a:lnTo>
                <a:cubicBezTo>
                  <a:pt x="40173" y="65036"/>
                  <a:pt x="36786" y="63240"/>
                  <a:pt x="34787" y="60226"/>
                </a:cubicBezTo>
                <a:lnTo>
                  <a:pt x="7926" y="19951"/>
                </a:lnTo>
                <a:cubicBezTo>
                  <a:pt x="6504" y="17817"/>
                  <a:pt x="6775" y="14938"/>
                  <a:pt x="8604" y="13109"/>
                </a:cubicBezTo>
                <a:lnTo>
                  <a:pt x="23982" y="-2269"/>
                </a:lnTo>
                <a:cubicBezTo>
                  <a:pt x="25811" y="-4099"/>
                  <a:pt x="28656" y="-4370"/>
                  <a:pt x="30824" y="-2947"/>
                </a:cubicBezTo>
                <a:lnTo>
                  <a:pt x="71099" y="23880"/>
                </a:lnTo>
                <a:cubicBezTo>
                  <a:pt x="74113" y="25879"/>
                  <a:pt x="75909" y="29266"/>
                  <a:pt x="75909" y="32890"/>
                </a:cubicBezTo>
                <a:close/>
                <a:moveTo>
                  <a:pt x="73030" y="100466"/>
                </a:moveTo>
                <a:cubicBezTo>
                  <a:pt x="70896" y="112999"/>
                  <a:pt x="73842" y="126244"/>
                  <a:pt x="81972" y="136846"/>
                </a:cubicBezTo>
                <a:lnTo>
                  <a:pt x="49793" y="168991"/>
                </a:lnTo>
                <a:cubicBezTo>
                  <a:pt x="40275" y="178509"/>
                  <a:pt x="24829" y="178509"/>
                  <a:pt x="15310" y="168991"/>
                </a:cubicBezTo>
                <a:cubicBezTo>
                  <a:pt x="5792" y="159473"/>
                  <a:pt x="5792" y="144027"/>
                  <a:pt x="15310" y="134508"/>
                </a:cubicBezTo>
                <a:lnTo>
                  <a:pt x="61174" y="88645"/>
                </a:lnTo>
                <a:lnTo>
                  <a:pt x="73030" y="100500"/>
                </a:ln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10" name="Text 8"/>
          <p:cNvSpPr/>
          <p:nvPr/>
        </p:nvSpPr>
        <p:spPr>
          <a:xfrm>
            <a:off x="1187983" y="1959738"/>
            <a:ext cx="582718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983" y="2237223"/>
            <a:ext cx="5809844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Professionals use Synctropic to build their proprietary workflow engine, encoding years of expertise into autonomous agents.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66786" y="2826879"/>
            <a:ext cx="156085" cy="208114"/>
          </a:xfrm>
          <a:custGeom>
            <a:avLst/>
            <a:gdLst/>
            <a:ahLst/>
            <a:cxnLst/>
            <a:rect l="l" t="t" r="r" b="b"/>
            <a:pathLst>
              <a:path w="156085" h="208114">
                <a:moveTo>
                  <a:pt x="68856" y="204293"/>
                </a:moveTo>
                <a:cubicBezTo>
                  <a:pt x="73937" y="209374"/>
                  <a:pt x="82189" y="209374"/>
                  <a:pt x="87270" y="204293"/>
                </a:cubicBezTo>
                <a:lnTo>
                  <a:pt x="152305" y="139257"/>
                </a:lnTo>
                <a:cubicBezTo>
                  <a:pt x="157386" y="134176"/>
                  <a:pt x="157386" y="125925"/>
                  <a:pt x="152305" y="120844"/>
                </a:cubicBezTo>
                <a:cubicBezTo>
                  <a:pt x="147224" y="115763"/>
                  <a:pt x="138973" y="115763"/>
                  <a:pt x="133892" y="120844"/>
                </a:cubicBezTo>
                <a:lnTo>
                  <a:pt x="91050" y="163686"/>
                </a:lnTo>
                <a:lnTo>
                  <a:pt x="91050" y="13007"/>
                </a:lnTo>
                <a:cubicBezTo>
                  <a:pt x="91050" y="5813"/>
                  <a:pt x="85237" y="0"/>
                  <a:pt x="78043" y="0"/>
                </a:cubicBezTo>
                <a:cubicBezTo>
                  <a:pt x="70848" y="0"/>
                  <a:pt x="65036" y="5813"/>
                  <a:pt x="65036" y="13007"/>
                </a:cubicBezTo>
                <a:lnTo>
                  <a:pt x="65036" y="163686"/>
                </a:lnTo>
                <a:lnTo>
                  <a:pt x="22193" y="120844"/>
                </a:lnTo>
                <a:cubicBezTo>
                  <a:pt x="17112" y="115763"/>
                  <a:pt x="8861" y="115763"/>
                  <a:pt x="3780" y="120844"/>
                </a:cubicBezTo>
                <a:cubicBezTo>
                  <a:pt x="-1301" y="125925"/>
                  <a:pt x="-1301" y="134176"/>
                  <a:pt x="3780" y="139257"/>
                </a:cubicBezTo>
                <a:lnTo>
                  <a:pt x="68816" y="204293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3642" y="3173735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242799" y="0"/>
                </a:moveTo>
                <a:lnTo>
                  <a:pt x="242799" y="0"/>
                </a:lnTo>
                <a:cubicBezTo>
                  <a:pt x="376804" y="0"/>
                  <a:pt x="485599" y="108795"/>
                  <a:pt x="485599" y="242799"/>
                </a:cubicBezTo>
                <a:lnTo>
                  <a:pt x="485599" y="242799"/>
                </a:lnTo>
                <a:cubicBezTo>
                  <a:pt x="485599" y="376804"/>
                  <a:pt x="376804" y="485599"/>
                  <a:pt x="242799" y="485599"/>
                </a:cubicBezTo>
                <a:lnTo>
                  <a:pt x="242799" y="485599"/>
                </a:lnTo>
                <a:cubicBezTo>
                  <a:pt x="108795" y="485599"/>
                  <a:pt x="0" y="376804"/>
                  <a:pt x="0" y="242799"/>
                </a:cubicBezTo>
                <a:lnTo>
                  <a:pt x="0" y="242799"/>
                </a:lnTo>
                <a:cubicBezTo>
                  <a:pt x="0" y="108795"/>
                  <a:pt x="108795" y="0"/>
                  <a:pt x="242799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14" name="Shape 12"/>
          <p:cNvSpPr/>
          <p:nvPr/>
        </p:nvSpPr>
        <p:spPr>
          <a:xfrm>
            <a:off x="719727" y="3329821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43357" y="108393"/>
                </a:moveTo>
                <a:lnTo>
                  <a:pt x="8299" y="108393"/>
                </a:lnTo>
                <a:cubicBezTo>
                  <a:pt x="-135" y="108393"/>
                  <a:pt x="-5318" y="99213"/>
                  <a:pt x="-982" y="91964"/>
                </a:cubicBezTo>
                <a:lnTo>
                  <a:pt x="16936" y="62089"/>
                </a:lnTo>
                <a:cubicBezTo>
                  <a:pt x="19883" y="57177"/>
                  <a:pt x="25167" y="54196"/>
                  <a:pt x="30892" y="54196"/>
                </a:cubicBezTo>
                <a:lnTo>
                  <a:pt x="63071" y="54196"/>
                </a:lnTo>
                <a:cubicBezTo>
                  <a:pt x="88848" y="10534"/>
                  <a:pt x="127294" y="8333"/>
                  <a:pt x="153003" y="12093"/>
                </a:cubicBezTo>
                <a:cubicBezTo>
                  <a:pt x="157339" y="12736"/>
                  <a:pt x="160726" y="16123"/>
                  <a:pt x="161336" y="20425"/>
                </a:cubicBezTo>
                <a:cubicBezTo>
                  <a:pt x="165095" y="46135"/>
                  <a:pt x="162894" y="84580"/>
                  <a:pt x="119232" y="110357"/>
                </a:cubicBezTo>
                <a:lnTo>
                  <a:pt x="119232" y="142536"/>
                </a:lnTo>
                <a:cubicBezTo>
                  <a:pt x="119232" y="148261"/>
                  <a:pt x="116251" y="153545"/>
                  <a:pt x="111340" y="156492"/>
                </a:cubicBezTo>
                <a:lnTo>
                  <a:pt x="81464" y="174410"/>
                </a:lnTo>
                <a:cubicBezTo>
                  <a:pt x="74249" y="178746"/>
                  <a:pt x="65036" y="173530"/>
                  <a:pt x="65036" y="165129"/>
                </a:cubicBezTo>
                <a:lnTo>
                  <a:pt x="65036" y="130071"/>
                </a:lnTo>
                <a:cubicBezTo>
                  <a:pt x="65036" y="118114"/>
                  <a:pt x="55314" y="108393"/>
                  <a:pt x="43357" y="108393"/>
                </a:cubicBezTo>
                <a:lnTo>
                  <a:pt x="43323" y="108393"/>
                </a:lnTo>
                <a:close/>
                <a:moveTo>
                  <a:pt x="135491" y="54196"/>
                </a:moveTo>
                <a:cubicBezTo>
                  <a:pt x="135491" y="45223"/>
                  <a:pt x="128205" y="37937"/>
                  <a:pt x="119232" y="37937"/>
                </a:cubicBezTo>
                <a:cubicBezTo>
                  <a:pt x="110258" y="37937"/>
                  <a:pt x="102973" y="45223"/>
                  <a:pt x="102973" y="54196"/>
                </a:cubicBezTo>
                <a:cubicBezTo>
                  <a:pt x="102973" y="63170"/>
                  <a:pt x="110258" y="70455"/>
                  <a:pt x="119232" y="70455"/>
                </a:cubicBezTo>
                <a:cubicBezTo>
                  <a:pt x="128205" y="70455"/>
                  <a:pt x="135491" y="63170"/>
                  <a:pt x="135491" y="54196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15" name="Text 13"/>
          <p:cNvSpPr/>
          <p:nvPr/>
        </p:nvSpPr>
        <p:spPr>
          <a:xfrm>
            <a:off x="1187983" y="3173735"/>
            <a:ext cx="582718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7983" y="3451220"/>
            <a:ext cx="5809844" cy="2254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use it internally to </a:t>
            </a:r>
            <a:pPr>
              <a:lnSpc>
                <a:spcPct val="140000"/>
              </a:lnSpc>
            </a:pPr>
            <a:r>
              <a:rPr lang="en-US" sz="1092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10x their own client output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delivering more value in less time.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66786" y="3815420"/>
            <a:ext cx="156085" cy="208114"/>
          </a:xfrm>
          <a:custGeom>
            <a:avLst/>
            <a:gdLst/>
            <a:ahLst/>
            <a:cxnLst/>
            <a:rect l="l" t="t" r="r" b="b"/>
            <a:pathLst>
              <a:path w="156085" h="208114">
                <a:moveTo>
                  <a:pt x="68856" y="204293"/>
                </a:moveTo>
                <a:cubicBezTo>
                  <a:pt x="73937" y="209374"/>
                  <a:pt x="82189" y="209374"/>
                  <a:pt x="87270" y="204293"/>
                </a:cubicBezTo>
                <a:lnTo>
                  <a:pt x="152305" y="139257"/>
                </a:lnTo>
                <a:cubicBezTo>
                  <a:pt x="157386" y="134176"/>
                  <a:pt x="157386" y="125925"/>
                  <a:pt x="152305" y="120844"/>
                </a:cubicBezTo>
                <a:cubicBezTo>
                  <a:pt x="147224" y="115763"/>
                  <a:pt x="138973" y="115763"/>
                  <a:pt x="133892" y="120844"/>
                </a:cubicBezTo>
                <a:lnTo>
                  <a:pt x="91050" y="163686"/>
                </a:lnTo>
                <a:lnTo>
                  <a:pt x="91050" y="13007"/>
                </a:lnTo>
                <a:cubicBezTo>
                  <a:pt x="91050" y="5813"/>
                  <a:pt x="85237" y="0"/>
                  <a:pt x="78043" y="0"/>
                </a:cubicBezTo>
                <a:cubicBezTo>
                  <a:pt x="70848" y="0"/>
                  <a:pt x="65036" y="5813"/>
                  <a:pt x="65036" y="13007"/>
                </a:cubicBezTo>
                <a:lnTo>
                  <a:pt x="65036" y="163686"/>
                </a:lnTo>
                <a:lnTo>
                  <a:pt x="22193" y="120844"/>
                </a:lnTo>
                <a:cubicBezTo>
                  <a:pt x="17112" y="115763"/>
                  <a:pt x="8861" y="115763"/>
                  <a:pt x="3780" y="120844"/>
                </a:cubicBezTo>
                <a:cubicBezTo>
                  <a:pt x="-1301" y="125925"/>
                  <a:pt x="-1301" y="134176"/>
                  <a:pt x="3780" y="139257"/>
                </a:cubicBezTo>
                <a:lnTo>
                  <a:pt x="68816" y="204293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8" name="Shape 16"/>
          <p:cNvSpPr/>
          <p:nvPr/>
        </p:nvSpPr>
        <p:spPr>
          <a:xfrm>
            <a:off x="563642" y="4162276"/>
            <a:ext cx="485599" cy="485599"/>
          </a:xfrm>
          <a:custGeom>
            <a:avLst/>
            <a:gdLst/>
            <a:ahLst/>
            <a:cxnLst/>
            <a:rect l="l" t="t" r="r" b="b"/>
            <a:pathLst>
              <a:path w="485599" h="485599">
                <a:moveTo>
                  <a:pt x="242799" y="0"/>
                </a:moveTo>
                <a:lnTo>
                  <a:pt x="242799" y="0"/>
                </a:lnTo>
                <a:cubicBezTo>
                  <a:pt x="376804" y="0"/>
                  <a:pt x="485599" y="108795"/>
                  <a:pt x="485599" y="242799"/>
                </a:cubicBezTo>
                <a:lnTo>
                  <a:pt x="485599" y="242799"/>
                </a:lnTo>
                <a:cubicBezTo>
                  <a:pt x="485599" y="376804"/>
                  <a:pt x="376804" y="485599"/>
                  <a:pt x="242799" y="485599"/>
                </a:cubicBezTo>
                <a:lnTo>
                  <a:pt x="242799" y="485599"/>
                </a:lnTo>
                <a:cubicBezTo>
                  <a:pt x="108795" y="485599"/>
                  <a:pt x="0" y="376804"/>
                  <a:pt x="0" y="242799"/>
                </a:cubicBezTo>
                <a:lnTo>
                  <a:pt x="0" y="242799"/>
                </a:lnTo>
                <a:cubicBezTo>
                  <a:pt x="0" y="108795"/>
                  <a:pt x="108795" y="0"/>
                  <a:pt x="242799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9" name="Shape 17"/>
          <p:cNvSpPr/>
          <p:nvPr/>
        </p:nvSpPr>
        <p:spPr>
          <a:xfrm>
            <a:off x="752245" y="4318361"/>
            <a:ext cx="108393" cy="173428"/>
          </a:xfrm>
          <a:custGeom>
            <a:avLst/>
            <a:gdLst/>
            <a:ahLst/>
            <a:cxnLst/>
            <a:rect l="l" t="t" r="r" b="b"/>
            <a:pathLst>
              <a:path w="108393" h="173428">
                <a:moveTo>
                  <a:pt x="46067" y="8129"/>
                </a:moveTo>
                <a:cubicBezTo>
                  <a:pt x="46067" y="3624"/>
                  <a:pt x="49691" y="0"/>
                  <a:pt x="54196" y="0"/>
                </a:cubicBezTo>
                <a:cubicBezTo>
                  <a:pt x="58701" y="0"/>
                  <a:pt x="62326" y="3624"/>
                  <a:pt x="62326" y="8129"/>
                </a:cubicBezTo>
                <a:lnTo>
                  <a:pt x="62326" y="21679"/>
                </a:lnTo>
                <a:lnTo>
                  <a:pt x="81294" y="21679"/>
                </a:lnTo>
                <a:cubicBezTo>
                  <a:pt x="87290" y="21679"/>
                  <a:pt x="92134" y="26522"/>
                  <a:pt x="92134" y="32518"/>
                </a:cubicBezTo>
                <a:cubicBezTo>
                  <a:pt x="92134" y="38513"/>
                  <a:pt x="87290" y="43357"/>
                  <a:pt x="81294" y="43357"/>
                </a:cubicBezTo>
                <a:lnTo>
                  <a:pt x="42375" y="43357"/>
                </a:lnTo>
                <a:cubicBezTo>
                  <a:pt x="33940" y="43357"/>
                  <a:pt x="27098" y="50199"/>
                  <a:pt x="27098" y="58634"/>
                </a:cubicBezTo>
                <a:cubicBezTo>
                  <a:pt x="27098" y="66255"/>
                  <a:pt x="32687" y="72691"/>
                  <a:pt x="40207" y="73775"/>
                </a:cubicBezTo>
                <a:lnTo>
                  <a:pt x="71234" y="78212"/>
                </a:lnTo>
                <a:cubicBezTo>
                  <a:pt x="89458" y="80820"/>
                  <a:pt x="102973" y="96402"/>
                  <a:pt x="102973" y="114795"/>
                </a:cubicBezTo>
                <a:cubicBezTo>
                  <a:pt x="102973" y="135220"/>
                  <a:pt x="86409" y="151750"/>
                  <a:pt x="66018" y="151750"/>
                </a:cubicBezTo>
                <a:lnTo>
                  <a:pt x="62326" y="151750"/>
                </a:lnTo>
                <a:lnTo>
                  <a:pt x="62326" y="165299"/>
                </a:lnTo>
                <a:cubicBezTo>
                  <a:pt x="62326" y="169804"/>
                  <a:pt x="58701" y="173428"/>
                  <a:pt x="54196" y="173428"/>
                </a:cubicBezTo>
                <a:cubicBezTo>
                  <a:pt x="49691" y="173428"/>
                  <a:pt x="46067" y="169804"/>
                  <a:pt x="46067" y="165299"/>
                </a:cubicBezTo>
                <a:lnTo>
                  <a:pt x="46067" y="151750"/>
                </a:lnTo>
                <a:lnTo>
                  <a:pt x="21679" y="151750"/>
                </a:lnTo>
                <a:cubicBezTo>
                  <a:pt x="15683" y="151750"/>
                  <a:pt x="10839" y="146906"/>
                  <a:pt x="10839" y="140910"/>
                </a:cubicBezTo>
                <a:cubicBezTo>
                  <a:pt x="10839" y="134915"/>
                  <a:pt x="15683" y="130071"/>
                  <a:pt x="21679" y="130071"/>
                </a:cubicBezTo>
                <a:lnTo>
                  <a:pt x="66018" y="130071"/>
                </a:lnTo>
                <a:cubicBezTo>
                  <a:pt x="74452" y="130071"/>
                  <a:pt x="81294" y="123229"/>
                  <a:pt x="81294" y="114795"/>
                </a:cubicBezTo>
                <a:cubicBezTo>
                  <a:pt x="81294" y="107173"/>
                  <a:pt x="75705" y="100737"/>
                  <a:pt x="68186" y="99653"/>
                </a:cubicBezTo>
                <a:lnTo>
                  <a:pt x="37158" y="95216"/>
                </a:lnTo>
                <a:cubicBezTo>
                  <a:pt x="18935" y="92642"/>
                  <a:pt x="5420" y="77026"/>
                  <a:pt x="5420" y="58634"/>
                </a:cubicBezTo>
                <a:cubicBezTo>
                  <a:pt x="5420" y="38242"/>
                  <a:pt x="21983" y="21679"/>
                  <a:pt x="42375" y="21679"/>
                </a:cubicBezTo>
                <a:lnTo>
                  <a:pt x="46067" y="21679"/>
                </a:lnTo>
                <a:lnTo>
                  <a:pt x="46067" y="8129"/>
                </a:ln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20" name="Text 18"/>
          <p:cNvSpPr/>
          <p:nvPr/>
        </p:nvSpPr>
        <p:spPr>
          <a:xfrm>
            <a:off x="1187983" y="4162276"/>
            <a:ext cx="582718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Monetize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7983" y="4439761"/>
            <a:ext cx="5809844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package their workflow and sell it on the Synctropic Marketplace, creating passive income from their expertise.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1192" y="5250538"/>
            <a:ext cx="6789713" cy="1153297"/>
          </a:xfrm>
          <a:custGeom>
            <a:avLst/>
            <a:gdLst/>
            <a:ahLst/>
            <a:cxnLst/>
            <a:rect l="l" t="t" r="r" b="b"/>
            <a:pathLst>
              <a:path w="6789713" h="1153297">
                <a:moveTo>
                  <a:pt x="69371" y="0"/>
                </a:moveTo>
                <a:lnTo>
                  <a:pt x="6720342" y="0"/>
                </a:lnTo>
                <a:cubicBezTo>
                  <a:pt x="6758654" y="0"/>
                  <a:pt x="6789713" y="31058"/>
                  <a:pt x="6789713" y="69371"/>
                </a:cubicBezTo>
                <a:lnTo>
                  <a:pt x="6789713" y="1083926"/>
                </a:lnTo>
                <a:cubicBezTo>
                  <a:pt x="6789713" y="1122239"/>
                  <a:pt x="6758654" y="1153297"/>
                  <a:pt x="6720342" y="1153297"/>
                </a:cubicBezTo>
                <a:lnTo>
                  <a:pt x="69371" y="1153297"/>
                </a:lnTo>
                <a:cubicBezTo>
                  <a:pt x="31058" y="1153297"/>
                  <a:pt x="0" y="1122239"/>
                  <a:pt x="0" y="1083926"/>
                </a:cubicBezTo>
                <a:lnTo>
                  <a:pt x="0" y="69371"/>
                </a:lnTo>
                <a:cubicBezTo>
                  <a:pt x="0" y="31058"/>
                  <a:pt x="31058" y="0"/>
                  <a:pt x="69371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778DA9">
                  <a:alpha val="20000"/>
                </a:srgbClr>
              </a:gs>
            </a:gsLst>
            <a:lin ang="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984" y="5445644"/>
            <a:ext cx="156085" cy="208114"/>
          </a:xfrm>
          <a:custGeom>
            <a:avLst/>
            <a:gdLst/>
            <a:ahLst/>
            <a:cxnLst/>
            <a:rect l="l" t="t" r="r" b="b"/>
            <a:pathLst>
              <a:path w="156085" h="208114">
                <a:moveTo>
                  <a:pt x="119056" y="156085"/>
                </a:moveTo>
                <a:cubicBezTo>
                  <a:pt x="122023" y="147021"/>
                  <a:pt x="127957" y="138810"/>
                  <a:pt x="134664" y="131738"/>
                </a:cubicBezTo>
                <a:cubicBezTo>
                  <a:pt x="147956" y="117755"/>
                  <a:pt x="156085" y="98854"/>
                  <a:pt x="156085" y="78043"/>
                </a:cubicBezTo>
                <a:cubicBezTo>
                  <a:pt x="156085" y="34957"/>
                  <a:pt x="121129" y="0"/>
                  <a:pt x="78043" y="0"/>
                </a:cubicBezTo>
                <a:cubicBezTo>
                  <a:pt x="34957" y="0"/>
                  <a:pt x="0" y="34957"/>
                  <a:pt x="0" y="78043"/>
                </a:cubicBezTo>
                <a:cubicBezTo>
                  <a:pt x="0" y="98854"/>
                  <a:pt x="8129" y="117755"/>
                  <a:pt x="21421" y="131738"/>
                </a:cubicBezTo>
                <a:cubicBezTo>
                  <a:pt x="28128" y="138810"/>
                  <a:pt x="34103" y="147021"/>
                  <a:pt x="37030" y="156085"/>
                </a:cubicBezTo>
                <a:lnTo>
                  <a:pt x="119015" y="156085"/>
                </a:lnTo>
                <a:close/>
                <a:moveTo>
                  <a:pt x="117064" y="175596"/>
                </a:moveTo>
                <a:lnTo>
                  <a:pt x="39021" y="175596"/>
                </a:lnTo>
                <a:lnTo>
                  <a:pt x="39021" y="182100"/>
                </a:lnTo>
                <a:cubicBezTo>
                  <a:pt x="39021" y="200066"/>
                  <a:pt x="53573" y="214617"/>
                  <a:pt x="71539" y="214617"/>
                </a:cubicBezTo>
                <a:lnTo>
                  <a:pt x="84546" y="214617"/>
                </a:lnTo>
                <a:cubicBezTo>
                  <a:pt x="102512" y="214617"/>
                  <a:pt x="117064" y="200066"/>
                  <a:pt x="117064" y="182100"/>
                </a:cubicBezTo>
                <a:lnTo>
                  <a:pt x="117064" y="175596"/>
                </a:lnTo>
                <a:close/>
                <a:moveTo>
                  <a:pt x="74791" y="45525"/>
                </a:moveTo>
                <a:cubicBezTo>
                  <a:pt x="58613" y="45525"/>
                  <a:pt x="45525" y="58613"/>
                  <a:pt x="45525" y="74791"/>
                </a:cubicBezTo>
                <a:cubicBezTo>
                  <a:pt x="45525" y="80197"/>
                  <a:pt x="41176" y="84546"/>
                  <a:pt x="35770" y="84546"/>
                </a:cubicBezTo>
                <a:cubicBezTo>
                  <a:pt x="30363" y="84546"/>
                  <a:pt x="26014" y="80197"/>
                  <a:pt x="26014" y="74791"/>
                </a:cubicBezTo>
                <a:cubicBezTo>
                  <a:pt x="26014" y="47842"/>
                  <a:pt x="47842" y="26014"/>
                  <a:pt x="74791" y="26014"/>
                </a:cubicBezTo>
                <a:cubicBezTo>
                  <a:pt x="80197" y="26014"/>
                  <a:pt x="84546" y="30363"/>
                  <a:pt x="84546" y="35770"/>
                </a:cubicBezTo>
                <a:cubicBezTo>
                  <a:pt x="84546" y="41176"/>
                  <a:pt x="80197" y="45525"/>
                  <a:pt x="74791" y="45525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24" name="Text 22"/>
          <p:cNvSpPr/>
          <p:nvPr/>
        </p:nvSpPr>
        <p:spPr>
          <a:xfrm>
            <a:off x="893155" y="5428302"/>
            <a:ext cx="1118612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Outcome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8956" y="5775158"/>
            <a:ext cx="6503556" cy="450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novice real estate investor can now pay a subscription to run the </a:t>
            </a:r>
            <a:pPr>
              <a:lnSpc>
                <a:spcPct val="140000"/>
              </a:lnSpc>
            </a:pPr>
            <a:r>
              <a:rPr lang="en-US" sz="1092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"Top-Tier Airbnb Consultant"</a:t>
            </a:r>
            <a:pPr>
              <a:lnSpc>
                <a:spcPct val="140000"/>
              </a:lnSpc>
            </a:pPr>
            <a:r>
              <a:rPr lang="en-US" sz="1092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workflow instance on demand—accessing expertise that would otherwise cost thousands per consultation.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20701" y="1296376"/>
            <a:ext cx="4517804" cy="4361718"/>
          </a:xfrm>
          <a:custGeom>
            <a:avLst/>
            <a:gdLst/>
            <a:ahLst/>
            <a:cxnLst/>
            <a:rect l="l" t="t" r="r" b="b"/>
            <a:pathLst>
              <a:path w="4517804" h="4361718">
                <a:moveTo>
                  <a:pt x="69351" y="0"/>
                </a:moveTo>
                <a:lnTo>
                  <a:pt x="4448452" y="0"/>
                </a:lnTo>
                <a:cubicBezTo>
                  <a:pt x="4486754" y="0"/>
                  <a:pt x="4517804" y="31050"/>
                  <a:pt x="4517804" y="69351"/>
                </a:cubicBezTo>
                <a:lnTo>
                  <a:pt x="4517804" y="4292367"/>
                </a:lnTo>
                <a:cubicBezTo>
                  <a:pt x="4517804" y="4330669"/>
                  <a:pt x="4486754" y="4361718"/>
                  <a:pt x="4448452" y="4361718"/>
                </a:cubicBezTo>
                <a:lnTo>
                  <a:pt x="69351" y="4361718"/>
                </a:lnTo>
                <a:cubicBezTo>
                  <a:pt x="31050" y="4361718"/>
                  <a:pt x="0" y="4330669"/>
                  <a:pt x="0" y="4292367"/>
                </a:cubicBezTo>
                <a:lnTo>
                  <a:pt x="0" y="69351"/>
                </a:lnTo>
                <a:cubicBezTo>
                  <a:pt x="0" y="31050"/>
                  <a:pt x="31050" y="0"/>
                  <a:pt x="69351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2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20143" y="1508825"/>
            <a:ext cx="173428" cy="173428"/>
          </a:xfrm>
          <a:custGeom>
            <a:avLst/>
            <a:gdLst/>
            <a:ahLst/>
            <a:cxnLst/>
            <a:rect l="l" t="t" r="r" b="b"/>
            <a:pathLst>
              <a:path w="173428" h="173428">
                <a:moveTo>
                  <a:pt x="21679" y="21679"/>
                </a:moveTo>
                <a:cubicBezTo>
                  <a:pt x="21679" y="15683"/>
                  <a:pt x="16835" y="10839"/>
                  <a:pt x="10839" y="10839"/>
                </a:cubicBezTo>
                <a:cubicBezTo>
                  <a:pt x="4844" y="10839"/>
                  <a:pt x="0" y="15683"/>
                  <a:pt x="0" y="21679"/>
                </a:cubicBezTo>
                <a:lnTo>
                  <a:pt x="0" y="135491"/>
                </a:lnTo>
                <a:cubicBezTo>
                  <a:pt x="0" y="150462"/>
                  <a:pt x="12126" y="162589"/>
                  <a:pt x="27098" y="162589"/>
                </a:cubicBezTo>
                <a:lnTo>
                  <a:pt x="162589" y="162589"/>
                </a:lnTo>
                <a:cubicBezTo>
                  <a:pt x="168584" y="162589"/>
                  <a:pt x="173428" y="157745"/>
                  <a:pt x="173428" y="151750"/>
                </a:cubicBezTo>
                <a:cubicBezTo>
                  <a:pt x="173428" y="145754"/>
                  <a:pt x="168584" y="140910"/>
                  <a:pt x="162589" y="140910"/>
                </a:cubicBezTo>
                <a:lnTo>
                  <a:pt x="27098" y="140910"/>
                </a:lnTo>
                <a:cubicBezTo>
                  <a:pt x="24117" y="140910"/>
                  <a:pt x="21679" y="138472"/>
                  <a:pt x="21679" y="135491"/>
                </a:cubicBezTo>
                <a:lnTo>
                  <a:pt x="21679" y="21679"/>
                </a:lnTo>
                <a:close/>
                <a:moveTo>
                  <a:pt x="159405" y="51012"/>
                </a:moveTo>
                <a:cubicBezTo>
                  <a:pt x="163639" y="46778"/>
                  <a:pt x="163639" y="39902"/>
                  <a:pt x="159405" y="35668"/>
                </a:cubicBezTo>
                <a:cubicBezTo>
                  <a:pt x="155171" y="31434"/>
                  <a:pt x="148295" y="31434"/>
                  <a:pt x="144061" y="35668"/>
                </a:cubicBezTo>
                <a:lnTo>
                  <a:pt x="108393" y="71370"/>
                </a:lnTo>
                <a:lnTo>
                  <a:pt x="88950" y="51961"/>
                </a:lnTo>
                <a:cubicBezTo>
                  <a:pt x="84716" y="47727"/>
                  <a:pt x="77839" y="47727"/>
                  <a:pt x="73605" y="51961"/>
                </a:cubicBezTo>
                <a:lnTo>
                  <a:pt x="41088" y="84478"/>
                </a:lnTo>
                <a:cubicBezTo>
                  <a:pt x="36853" y="88713"/>
                  <a:pt x="36853" y="95589"/>
                  <a:pt x="41088" y="99823"/>
                </a:cubicBezTo>
                <a:cubicBezTo>
                  <a:pt x="45322" y="104057"/>
                  <a:pt x="52198" y="104057"/>
                  <a:pt x="56432" y="99823"/>
                </a:cubicBezTo>
                <a:lnTo>
                  <a:pt x="81294" y="74960"/>
                </a:lnTo>
                <a:lnTo>
                  <a:pt x="100737" y="94403"/>
                </a:lnTo>
                <a:cubicBezTo>
                  <a:pt x="104971" y="98637"/>
                  <a:pt x="111848" y="98637"/>
                  <a:pt x="116082" y="94403"/>
                </a:cubicBezTo>
                <a:lnTo>
                  <a:pt x="159439" y="51046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8" name="Text 26"/>
          <p:cNvSpPr/>
          <p:nvPr/>
        </p:nvSpPr>
        <p:spPr>
          <a:xfrm>
            <a:off x="7715250" y="1474139"/>
            <a:ext cx="4032205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98465" y="1855681"/>
            <a:ext cx="4162276" cy="1075255"/>
          </a:xfrm>
          <a:custGeom>
            <a:avLst/>
            <a:gdLst/>
            <a:ahLst/>
            <a:cxnLst/>
            <a:rect l="l" t="t" r="r" b="b"/>
            <a:pathLst>
              <a:path w="4162276" h="1075255">
                <a:moveTo>
                  <a:pt x="69375" y="0"/>
                </a:moveTo>
                <a:lnTo>
                  <a:pt x="4092901" y="0"/>
                </a:lnTo>
                <a:cubicBezTo>
                  <a:pt x="4131216" y="0"/>
                  <a:pt x="4162276" y="31060"/>
                  <a:pt x="4162276" y="69375"/>
                </a:cubicBezTo>
                <a:lnTo>
                  <a:pt x="4162276" y="1005879"/>
                </a:lnTo>
                <a:cubicBezTo>
                  <a:pt x="4162276" y="1044194"/>
                  <a:pt x="4131216" y="1075255"/>
                  <a:pt x="4092901" y="1075255"/>
                </a:cubicBezTo>
                <a:lnTo>
                  <a:pt x="69375" y="1075255"/>
                </a:lnTo>
                <a:cubicBezTo>
                  <a:pt x="31060" y="1075255"/>
                  <a:pt x="0" y="1044194"/>
                  <a:pt x="0" y="1005879"/>
                </a:cubicBezTo>
                <a:lnTo>
                  <a:pt x="0" y="69375"/>
                </a:lnTo>
                <a:cubicBezTo>
                  <a:pt x="0" y="31086"/>
                  <a:pt x="31086" y="0"/>
                  <a:pt x="69375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637207" y="1994424"/>
            <a:ext cx="394549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spc="48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No-Code Workflow Market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37207" y="2237223"/>
            <a:ext cx="867141" cy="31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8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$7.25B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94051" y="2341280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136195" y="75495"/>
                </a:moveTo>
                <a:cubicBezTo>
                  <a:pt x="139583" y="72108"/>
                  <a:pt x="139583" y="66607"/>
                  <a:pt x="136195" y="63220"/>
                </a:cubicBezTo>
                <a:lnTo>
                  <a:pt x="92838" y="19863"/>
                </a:lnTo>
                <a:cubicBezTo>
                  <a:pt x="89451" y="16476"/>
                  <a:pt x="83950" y="16476"/>
                  <a:pt x="80563" y="19863"/>
                </a:cubicBezTo>
                <a:cubicBezTo>
                  <a:pt x="77176" y="23250"/>
                  <a:pt x="77176" y="28751"/>
                  <a:pt x="80563" y="32138"/>
                </a:cubicBezTo>
                <a:lnTo>
                  <a:pt x="109124" y="60700"/>
                </a:lnTo>
                <a:lnTo>
                  <a:pt x="8671" y="60700"/>
                </a:lnTo>
                <a:cubicBezTo>
                  <a:pt x="3875" y="60700"/>
                  <a:pt x="0" y="64575"/>
                  <a:pt x="0" y="69371"/>
                </a:cubicBezTo>
                <a:cubicBezTo>
                  <a:pt x="0" y="74168"/>
                  <a:pt x="3875" y="78043"/>
                  <a:pt x="8671" y="78043"/>
                </a:cubicBezTo>
                <a:lnTo>
                  <a:pt x="109124" y="78043"/>
                </a:lnTo>
                <a:lnTo>
                  <a:pt x="80563" y="106604"/>
                </a:lnTo>
                <a:cubicBezTo>
                  <a:pt x="77176" y="109991"/>
                  <a:pt x="77176" y="115492"/>
                  <a:pt x="80563" y="118880"/>
                </a:cubicBezTo>
                <a:cubicBezTo>
                  <a:pt x="83950" y="122267"/>
                  <a:pt x="89451" y="122267"/>
                  <a:pt x="92838" y="118880"/>
                </a:cubicBezTo>
                <a:lnTo>
                  <a:pt x="136195" y="75523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3" name="Text 31"/>
          <p:cNvSpPr/>
          <p:nvPr/>
        </p:nvSpPr>
        <p:spPr>
          <a:xfrm>
            <a:off x="8754193" y="2237223"/>
            <a:ext cx="971198" cy="31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8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$16.52B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37207" y="2618765"/>
            <a:ext cx="394549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2030 (17.9% CAGR)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498465" y="3069679"/>
            <a:ext cx="4162276" cy="1075255"/>
          </a:xfrm>
          <a:custGeom>
            <a:avLst/>
            <a:gdLst/>
            <a:ahLst/>
            <a:cxnLst/>
            <a:rect l="l" t="t" r="r" b="b"/>
            <a:pathLst>
              <a:path w="4162276" h="1075255">
                <a:moveTo>
                  <a:pt x="69375" y="0"/>
                </a:moveTo>
                <a:lnTo>
                  <a:pt x="4092901" y="0"/>
                </a:lnTo>
                <a:cubicBezTo>
                  <a:pt x="4131216" y="0"/>
                  <a:pt x="4162276" y="31060"/>
                  <a:pt x="4162276" y="69375"/>
                </a:cubicBezTo>
                <a:lnTo>
                  <a:pt x="4162276" y="1005879"/>
                </a:lnTo>
                <a:cubicBezTo>
                  <a:pt x="4162276" y="1044194"/>
                  <a:pt x="4131216" y="1075255"/>
                  <a:pt x="4092901" y="1075255"/>
                </a:cubicBezTo>
                <a:lnTo>
                  <a:pt x="69375" y="1075255"/>
                </a:lnTo>
                <a:cubicBezTo>
                  <a:pt x="31060" y="1075255"/>
                  <a:pt x="0" y="1044194"/>
                  <a:pt x="0" y="1005879"/>
                </a:cubicBezTo>
                <a:lnTo>
                  <a:pt x="0" y="69375"/>
                </a:lnTo>
                <a:cubicBezTo>
                  <a:pt x="0" y="31086"/>
                  <a:pt x="31086" y="0"/>
                  <a:pt x="69375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637207" y="3208421"/>
            <a:ext cx="394549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spc="48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Orchestration Market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37207" y="3451220"/>
            <a:ext cx="884484" cy="31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8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$9.76B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8684" y="3555277"/>
            <a:ext cx="138743" cy="138743"/>
          </a:xfrm>
          <a:custGeom>
            <a:avLst/>
            <a:gdLst/>
            <a:ahLst/>
            <a:cxnLst/>
            <a:rect l="l" t="t" r="r" b="b"/>
            <a:pathLst>
              <a:path w="138743" h="138743">
                <a:moveTo>
                  <a:pt x="136195" y="75495"/>
                </a:moveTo>
                <a:cubicBezTo>
                  <a:pt x="139583" y="72108"/>
                  <a:pt x="139583" y="66607"/>
                  <a:pt x="136195" y="63220"/>
                </a:cubicBezTo>
                <a:lnTo>
                  <a:pt x="92838" y="19863"/>
                </a:lnTo>
                <a:cubicBezTo>
                  <a:pt x="89451" y="16476"/>
                  <a:pt x="83950" y="16476"/>
                  <a:pt x="80563" y="19863"/>
                </a:cubicBezTo>
                <a:cubicBezTo>
                  <a:pt x="77176" y="23250"/>
                  <a:pt x="77176" y="28751"/>
                  <a:pt x="80563" y="32138"/>
                </a:cubicBezTo>
                <a:lnTo>
                  <a:pt x="109124" y="60700"/>
                </a:lnTo>
                <a:lnTo>
                  <a:pt x="8671" y="60700"/>
                </a:lnTo>
                <a:cubicBezTo>
                  <a:pt x="3875" y="60700"/>
                  <a:pt x="0" y="64575"/>
                  <a:pt x="0" y="69371"/>
                </a:cubicBezTo>
                <a:cubicBezTo>
                  <a:pt x="0" y="74168"/>
                  <a:pt x="3875" y="78043"/>
                  <a:pt x="8671" y="78043"/>
                </a:cubicBezTo>
                <a:lnTo>
                  <a:pt x="109124" y="78043"/>
                </a:lnTo>
                <a:lnTo>
                  <a:pt x="80563" y="106604"/>
                </a:lnTo>
                <a:cubicBezTo>
                  <a:pt x="77176" y="109991"/>
                  <a:pt x="77176" y="115492"/>
                  <a:pt x="80563" y="118880"/>
                </a:cubicBezTo>
                <a:cubicBezTo>
                  <a:pt x="83950" y="122267"/>
                  <a:pt x="89451" y="122267"/>
                  <a:pt x="92838" y="118880"/>
                </a:cubicBezTo>
                <a:lnTo>
                  <a:pt x="136195" y="75523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9" name="Text 37"/>
          <p:cNvSpPr/>
          <p:nvPr/>
        </p:nvSpPr>
        <p:spPr>
          <a:xfrm>
            <a:off x="8768826" y="3451220"/>
            <a:ext cx="1031898" cy="31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8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$58.92B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637207" y="3832762"/>
            <a:ext cx="394549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2033 (22.4% CAGR)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498465" y="4283676"/>
            <a:ext cx="4162276" cy="1040569"/>
          </a:xfrm>
          <a:custGeom>
            <a:avLst/>
            <a:gdLst/>
            <a:ahLst/>
            <a:cxnLst/>
            <a:rect l="l" t="t" r="r" b="b"/>
            <a:pathLst>
              <a:path w="4162276" h="1040569">
                <a:moveTo>
                  <a:pt x="69375" y="0"/>
                </a:moveTo>
                <a:lnTo>
                  <a:pt x="4092901" y="0"/>
                </a:lnTo>
                <a:cubicBezTo>
                  <a:pt x="4131216" y="0"/>
                  <a:pt x="4162276" y="31060"/>
                  <a:pt x="4162276" y="69375"/>
                </a:cubicBezTo>
                <a:lnTo>
                  <a:pt x="4162276" y="971194"/>
                </a:lnTo>
                <a:cubicBezTo>
                  <a:pt x="4162276" y="1009509"/>
                  <a:pt x="4131216" y="1040569"/>
                  <a:pt x="4092901" y="1040569"/>
                </a:cubicBezTo>
                <a:lnTo>
                  <a:pt x="69375" y="1040569"/>
                </a:lnTo>
                <a:cubicBezTo>
                  <a:pt x="31060" y="1040569"/>
                  <a:pt x="0" y="1009509"/>
                  <a:pt x="0" y="971194"/>
                </a:cubicBezTo>
                <a:lnTo>
                  <a:pt x="0" y="69375"/>
                </a:lnTo>
                <a:cubicBezTo>
                  <a:pt x="0" y="31086"/>
                  <a:pt x="31086" y="0"/>
                  <a:pt x="69375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637207" y="4422418"/>
            <a:ext cx="394549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spc="48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Adoption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37207" y="4665218"/>
            <a:ext cx="4014862" cy="312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48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76%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637207" y="5012074"/>
            <a:ext cx="3945491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planning agentic AI implementation within 12 months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320701" y="5805508"/>
            <a:ext cx="4517804" cy="702384"/>
          </a:xfrm>
          <a:custGeom>
            <a:avLst/>
            <a:gdLst/>
            <a:ahLst/>
            <a:cxnLst/>
            <a:rect l="l" t="t" r="r" b="b"/>
            <a:pathLst>
              <a:path w="4517804" h="702384">
                <a:moveTo>
                  <a:pt x="69374" y="0"/>
                </a:moveTo>
                <a:lnTo>
                  <a:pt x="4448429" y="0"/>
                </a:lnTo>
                <a:cubicBezTo>
                  <a:pt x="4486744" y="0"/>
                  <a:pt x="4517804" y="31060"/>
                  <a:pt x="4517804" y="69374"/>
                </a:cubicBezTo>
                <a:lnTo>
                  <a:pt x="4517804" y="633010"/>
                </a:lnTo>
                <a:cubicBezTo>
                  <a:pt x="4517804" y="671324"/>
                  <a:pt x="4486744" y="702384"/>
                  <a:pt x="4448429" y="702384"/>
                </a:cubicBezTo>
                <a:lnTo>
                  <a:pt x="69374" y="702384"/>
                </a:lnTo>
                <a:cubicBezTo>
                  <a:pt x="31086" y="702384"/>
                  <a:pt x="0" y="671298"/>
                  <a:pt x="0" y="633010"/>
                </a:cubicBezTo>
                <a:lnTo>
                  <a:pt x="0" y="69374"/>
                </a:lnTo>
                <a:cubicBezTo>
                  <a:pt x="0" y="31086"/>
                  <a:pt x="31086" y="0"/>
                  <a:pt x="69374" y="0"/>
                </a:cubicBezTo>
                <a:close/>
              </a:path>
            </a:pathLst>
          </a:custGeom>
          <a:gradFill rotWithShape="1" flip="none">
            <a:gsLst>
              <a:gs pos="0">
                <a:srgbClr val="778DA9">
                  <a:alpha val="30000"/>
                </a:srgbClr>
              </a:gs>
              <a:gs pos="100000">
                <a:srgbClr val="415A77">
                  <a:alpha val="20000"/>
                </a:srgbClr>
              </a:gs>
            </a:gsLst>
            <a:lin ang="2700000" scaled="1"/>
          </a:gradFill>
          <a:ln w="12700">
            <a:solidFill>
              <a:srgbClr val="778DA9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63779" y="6069986"/>
            <a:ext cx="216785" cy="173428"/>
          </a:xfrm>
          <a:custGeom>
            <a:avLst/>
            <a:gdLst/>
            <a:ahLst/>
            <a:cxnLst/>
            <a:rect l="l" t="t" r="r" b="b"/>
            <a:pathLst>
              <a:path w="216785" h="173428">
                <a:moveTo>
                  <a:pt x="108393" y="5420"/>
                </a:moveTo>
                <a:cubicBezTo>
                  <a:pt x="127835" y="5420"/>
                  <a:pt x="143620" y="21205"/>
                  <a:pt x="143620" y="40647"/>
                </a:cubicBezTo>
                <a:cubicBezTo>
                  <a:pt x="143620" y="60090"/>
                  <a:pt x="127835" y="75875"/>
                  <a:pt x="108393" y="75875"/>
                </a:cubicBezTo>
                <a:cubicBezTo>
                  <a:pt x="88950" y="75875"/>
                  <a:pt x="73165" y="60090"/>
                  <a:pt x="73165" y="40647"/>
                </a:cubicBezTo>
                <a:cubicBezTo>
                  <a:pt x="73165" y="21205"/>
                  <a:pt x="88950" y="5420"/>
                  <a:pt x="108393" y="5420"/>
                </a:cubicBezTo>
                <a:close/>
                <a:moveTo>
                  <a:pt x="32518" y="29808"/>
                </a:moveTo>
                <a:cubicBezTo>
                  <a:pt x="45978" y="29808"/>
                  <a:pt x="56906" y="40736"/>
                  <a:pt x="56906" y="54196"/>
                </a:cubicBezTo>
                <a:cubicBezTo>
                  <a:pt x="56906" y="67657"/>
                  <a:pt x="45978" y="78585"/>
                  <a:pt x="32518" y="78585"/>
                </a:cubicBezTo>
                <a:cubicBezTo>
                  <a:pt x="19057" y="78585"/>
                  <a:pt x="8129" y="67657"/>
                  <a:pt x="8129" y="54196"/>
                </a:cubicBezTo>
                <a:cubicBezTo>
                  <a:pt x="8129" y="40736"/>
                  <a:pt x="19057" y="29808"/>
                  <a:pt x="32518" y="29808"/>
                </a:cubicBezTo>
                <a:close/>
                <a:moveTo>
                  <a:pt x="0" y="140910"/>
                </a:moveTo>
                <a:cubicBezTo>
                  <a:pt x="0" y="116962"/>
                  <a:pt x="19409" y="97553"/>
                  <a:pt x="43357" y="97553"/>
                </a:cubicBezTo>
                <a:cubicBezTo>
                  <a:pt x="47693" y="97553"/>
                  <a:pt x="51893" y="98197"/>
                  <a:pt x="55856" y="99382"/>
                </a:cubicBezTo>
                <a:cubicBezTo>
                  <a:pt x="44712" y="111848"/>
                  <a:pt x="37937" y="128310"/>
                  <a:pt x="37937" y="146330"/>
                </a:cubicBezTo>
                <a:lnTo>
                  <a:pt x="37937" y="151750"/>
                </a:lnTo>
                <a:cubicBezTo>
                  <a:pt x="37937" y="155611"/>
                  <a:pt x="38750" y="159269"/>
                  <a:pt x="40207" y="162589"/>
                </a:cubicBezTo>
                <a:lnTo>
                  <a:pt x="10839" y="162589"/>
                </a:lnTo>
                <a:cubicBezTo>
                  <a:pt x="4844" y="162589"/>
                  <a:pt x="0" y="157745"/>
                  <a:pt x="0" y="151750"/>
                </a:cubicBezTo>
                <a:lnTo>
                  <a:pt x="0" y="140910"/>
                </a:lnTo>
                <a:close/>
                <a:moveTo>
                  <a:pt x="176578" y="162589"/>
                </a:moveTo>
                <a:cubicBezTo>
                  <a:pt x="178035" y="159269"/>
                  <a:pt x="178848" y="155611"/>
                  <a:pt x="178848" y="151750"/>
                </a:cubicBezTo>
                <a:lnTo>
                  <a:pt x="178848" y="146330"/>
                </a:lnTo>
                <a:cubicBezTo>
                  <a:pt x="178848" y="128310"/>
                  <a:pt x="172073" y="111848"/>
                  <a:pt x="160929" y="99382"/>
                </a:cubicBezTo>
                <a:cubicBezTo>
                  <a:pt x="164892" y="98197"/>
                  <a:pt x="169092" y="97553"/>
                  <a:pt x="173428" y="97553"/>
                </a:cubicBezTo>
                <a:cubicBezTo>
                  <a:pt x="197376" y="97553"/>
                  <a:pt x="216785" y="116962"/>
                  <a:pt x="216785" y="140910"/>
                </a:cubicBezTo>
                <a:lnTo>
                  <a:pt x="216785" y="151750"/>
                </a:lnTo>
                <a:cubicBezTo>
                  <a:pt x="216785" y="157745"/>
                  <a:pt x="211941" y="162589"/>
                  <a:pt x="205946" y="162589"/>
                </a:cubicBezTo>
                <a:lnTo>
                  <a:pt x="176578" y="162589"/>
                </a:lnTo>
                <a:close/>
                <a:moveTo>
                  <a:pt x="159879" y="54196"/>
                </a:moveTo>
                <a:cubicBezTo>
                  <a:pt x="159879" y="40736"/>
                  <a:pt x="170807" y="29808"/>
                  <a:pt x="184267" y="29808"/>
                </a:cubicBezTo>
                <a:cubicBezTo>
                  <a:pt x="197728" y="29808"/>
                  <a:pt x="208656" y="40736"/>
                  <a:pt x="208656" y="54196"/>
                </a:cubicBezTo>
                <a:cubicBezTo>
                  <a:pt x="208656" y="67657"/>
                  <a:pt x="197728" y="78585"/>
                  <a:pt x="184267" y="78585"/>
                </a:cubicBezTo>
                <a:cubicBezTo>
                  <a:pt x="170807" y="78585"/>
                  <a:pt x="159879" y="67657"/>
                  <a:pt x="159879" y="54196"/>
                </a:cubicBezTo>
                <a:close/>
                <a:moveTo>
                  <a:pt x="54196" y="146330"/>
                </a:moveTo>
                <a:cubicBezTo>
                  <a:pt x="54196" y="116387"/>
                  <a:pt x="78449" y="92134"/>
                  <a:pt x="108393" y="92134"/>
                </a:cubicBezTo>
                <a:cubicBezTo>
                  <a:pt x="138336" y="92134"/>
                  <a:pt x="162589" y="116387"/>
                  <a:pt x="162589" y="146330"/>
                </a:cubicBezTo>
                <a:lnTo>
                  <a:pt x="162589" y="151750"/>
                </a:lnTo>
                <a:cubicBezTo>
                  <a:pt x="162589" y="157745"/>
                  <a:pt x="157745" y="162589"/>
                  <a:pt x="151750" y="162589"/>
                </a:cubicBezTo>
                <a:lnTo>
                  <a:pt x="65036" y="162589"/>
                </a:lnTo>
                <a:cubicBezTo>
                  <a:pt x="59040" y="162589"/>
                  <a:pt x="54196" y="157745"/>
                  <a:pt x="54196" y="151750"/>
                </a:cubicBezTo>
                <a:lnTo>
                  <a:pt x="54196" y="146330"/>
                </a:ln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47" name="Text 45"/>
          <p:cNvSpPr/>
          <p:nvPr/>
        </p:nvSpPr>
        <p:spPr>
          <a:xfrm>
            <a:off x="7784621" y="5948586"/>
            <a:ext cx="2358623" cy="173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6" spc="48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Professionals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784621" y="6122014"/>
            <a:ext cx="2375966" cy="242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29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Consultants • Analysts • Architects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518" y="379518"/>
            <a:ext cx="11499381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b="1" spc="105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518" y="645180"/>
            <a:ext cx="11603748" cy="42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89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 &amp; Go-To-Market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18" y="1185992"/>
            <a:ext cx="910842" cy="37952"/>
          </a:xfrm>
          <a:custGeom>
            <a:avLst/>
            <a:gdLst/>
            <a:ahLst/>
            <a:cxnLst/>
            <a:rect l="l" t="t" r="r" b="b"/>
            <a:pathLst>
              <a:path w="910842" h="37952">
                <a:moveTo>
                  <a:pt x="0" y="0"/>
                </a:moveTo>
                <a:lnTo>
                  <a:pt x="910842" y="0"/>
                </a:lnTo>
                <a:lnTo>
                  <a:pt x="910842" y="37952"/>
                </a:lnTo>
                <a:lnTo>
                  <a:pt x="0" y="37952"/>
                </a:lnTo>
                <a:lnTo>
                  <a:pt x="0" y="0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5" name="Shape 3"/>
          <p:cNvSpPr/>
          <p:nvPr/>
        </p:nvSpPr>
        <p:spPr>
          <a:xfrm>
            <a:off x="384261" y="1418447"/>
            <a:ext cx="3671832" cy="2552255"/>
          </a:xfrm>
          <a:custGeom>
            <a:avLst/>
            <a:gdLst/>
            <a:ahLst/>
            <a:cxnLst/>
            <a:rect l="l" t="t" r="r" b="b"/>
            <a:pathLst>
              <a:path w="3671832" h="2552255">
                <a:moveTo>
                  <a:pt x="75904" y="0"/>
                </a:moveTo>
                <a:lnTo>
                  <a:pt x="3595928" y="0"/>
                </a:lnTo>
                <a:cubicBezTo>
                  <a:pt x="3637848" y="0"/>
                  <a:pt x="3671832" y="33983"/>
                  <a:pt x="3671832" y="75904"/>
                </a:cubicBezTo>
                <a:lnTo>
                  <a:pt x="3671832" y="2476351"/>
                </a:lnTo>
                <a:cubicBezTo>
                  <a:pt x="3671832" y="2518272"/>
                  <a:pt x="3637848" y="2552255"/>
                  <a:pt x="3595928" y="2552255"/>
                </a:cubicBezTo>
                <a:lnTo>
                  <a:pt x="75904" y="2552255"/>
                </a:lnTo>
                <a:cubicBezTo>
                  <a:pt x="34011" y="2552255"/>
                  <a:pt x="0" y="2518244"/>
                  <a:pt x="0" y="2476351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8764" y="1612949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415A77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9735" y="1745781"/>
            <a:ext cx="213479" cy="189759"/>
          </a:xfrm>
          <a:custGeom>
            <a:avLst/>
            <a:gdLst/>
            <a:ahLst/>
            <a:cxnLst/>
            <a:rect l="l" t="t" r="r" b="b"/>
            <a:pathLst>
              <a:path w="213479" h="189759">
                <a:moveTo>
                  <a:pt x="0" y="124529"/>
                </a:moveTo>
                <a:cubicBezTo>
                  <a:pt x="0" y="153994"/>
                  <a:pt x="23905" y="177899"/>
                  <a:pt x="53370" y="177899"/>
                </a:cubicBezTo>
                <a:lnTo>
                  <a:pt x="166039" y="177899"/>
                </a:lnTo>
                <a:cubicBezTo>
                  <a:pt x="192242" y="177899"/>
                  <a:pt x="213479" y="156662"/>
                  <a:pt x="213479" y="130459"/>
                </a:cubicBezTo>
                <a:cubicBezTo>
                  <a:pt x="213479" y="111335"/>
                  <a:pt x="202175" y="94842"/>
                  <a:pt x="185867" y="87356"/>
                </a:cubicBezTo>
                <a:cubicBezTo>
                  <a:pt x="188350" y="82501"/>
                  <a:pt x="189759" y="76978"/>
                  <a:pt x="189759" y="71160"/>
                </a:cubicBezTo>
                <a:cubicBezTo>
                  <a:pt x="189759" y="51517"/>
                  <a:pt x="173822" y="35580"/>
                  <a:pt x="154179" y="35580"/>
                </a:cubicBezTo>
                <a:cubicBezTo>
                  <a:pt x="147619" y="35580"/>
                  <a:pt x="141504" y="37359"/>
                  <a:pt x="136241" y="40435"/>
                </a:cubicBezTo>
                <a:cubicBezTo>
                  <a:pt x="127309" y="23460"/>
                  <a:pt x="109482" y="11860"/>
                  <a:pt x="88949" y="11860"/>
                </a:cubicBezTo>
                <a:cubicBezTo>
                  <a:pt x="59485" y="11860"/>
                  <a:pt x="35580" y="35765"/>
                  <a:pt x="35580" y="65230"/>
                </a:cubicBezTo>
                <a:cubicBezTo>
                  <a:pt x="35580" y="68195"/>
                  <a:pt x="35839" y="71122"/>
                  <a:pt x="36284" y="73939"/>
                </a:cubicBezTo>
                <a:cubicBezTo>
                  <a:pt x="15196" y="81055"/>
                  <a:pt x="0" y="101032"/>
                  <a:pt x="0" y="124529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8" name="Text 6"/>
          <p:cNvSpPr/>
          <p:nvPr/>
        </p:nvSpPr>
        <p:spPr>
          <a:xfrm>
            <a:off x="1148040" y="1707829"/>
            <a:ext cx="1622437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Subscription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8764" y="2220177"/>
            <a:ext cx="3358730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Tiered monthly access for professionals to build and host their agent workflows.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740" y="2865357"/>
            <a:ext cx="3263851" cy="910842"/>
          </a:xfrm>
          <a:custGeom>
            <a:avLst/>
            <a:gdLst/>
            <a:ahLst/>
            <a:cxnLst/>
            <a:rect l="l" t="t" r="r" b="b"/>
            <a:pathLst>
              <a:path w="3263851" h="910842">
                <a:moveTo>
                  <a:pt x="37952" y="0"/>
                </a:moveTo>
                <a:lnTo>
                  <a:pt x="3187950" y="0"/>
                </a:lnTo>
                <a:cubicBezTo>
                  <a:pt x="3229869" y="0"/>
                  <a:pt x="3263851" y="33982"/>
                  <a:pt x="3263851" y="75900"/>
                </a:cubicBezTo>
                <a:lnTo>
                  <a:pt x="3263851" y="834942"/>
                </a:lnTo>
                <a:cubicBezTo>
                  <a:pt x="3263851" y="876860"/>
                  <a:pt x="3229869" y="910842"/>
                  <a:pt x="3187950" y="910842"/>
                </a:cubicBez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7740" y="2865357"/>
            <a:ext cx="37952" cy="910842"/>
          </a:xfrm>
          <a:custGeom>
            <a:avLst/>
            <a:gdLst/>
            <a:ahLst/>
            <a:cxnLst/>
            <a:rect l="l" t="t" r="r" b="b"/>
            <a:pathLst>
              <a:path w="37952" h="910842">
                <a:moveTo>
                  <a:pt x="37952" y="0"/>
                </a:moveTo>
                <a:lnTo>
                  <a:pt x="37952" y="0"/>
                </a:lnTo>
                <a:lnTo>
                  <a:pt x="37952" y="910842"/>
                </a:ln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12" name="Text 10"/>
          <p:cNvSpPr/>
          <p:nvPr/>
        </p:nvSpPr>
        <p:spPr>
          <a:xfrm>
            <a:off x="730571" y="2979212"/>
            <a:ext cx="3083580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spc="52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0571" y="3206923"/>
            <a:ext cx="3102556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$99-$999/mo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0571" y="3472585"/>
            <a:ext cx="3083580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agent count &amp; complexity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9491" y="1418447"/>
            <a:ext cx="3671832" cy="2552255"/>
          </a:xfrm>
          <a:custGeom>
            <a:avLst/>
            <a:gdLst/>
            <a:ahLst/>
            <a:cxnLst/>
            <a:rect l="l" t="t" r="r" b="b"/>
            <a:pathLst>
              <a:path w="3671832" h="2552255">
                <a:moveTo>
                  <a:pt x="75904" y="0"/>
                </a:moveTo>
                <a:lnTo>
                  <a:pt x="3595928" y="0"/>
                </a:lnTo>
                <a:cubicBezTo>
                  <a:pt x="3637848" y="0"/>
                  <a:pt x="3671832" y="33983"/>
                  <a:pt x="3671832" y="75904"/>
                </a:cubicBezTo>
                <a:lnTo>
                  <a:pt x="3671832" y="2476351"/>
                </a:lnTo>
                <a:cubicBezTo>
                  <a:pt x="3671832" y="2518272"/>
                  <a:pt x="3637848" y="2552255"/>
                  <a:pt x="3595928" y="2552255"/>
                </a:cubicBezTo>
                <a:lnTo>
                  <a:pt x="75904" y="2552255"/>
                </a:lnTo>
                <a:cubicBezTo>
                  <a:pt x="34011" y="2552255"/>
                  <a:pt x="0" y="2518244"/>
                  <a:pt x="0" y="2476351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994" y="1612949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415A77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86825" y="1745781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65230" y="8895"/>
                </a:moveTo>
                <a:cubicBezTo>
                  <a:pt x="65230" y="3966"/>
                  <a:pt x="61264" y="0"/>
                  <a:pt x="56335" y="0"/>
                </a:cubicBezTo>
                <a:cubicBezTo>
                  <a:pt x="51405" y="0"/>
                  <a:pt x="47440" y="3966"/>
                  <a:pt x="47440" y="8895"/>
                </a:cubicBezTo>
                <a:lnTo>
                  <a:pt x="47440" y="23720"/>
                </a:lnTo>
                <a:cubicBezTo>
                  <a:pt x="34357" y="23720"/>
                  <a:pt x="23720" y="34357"/>
                  <a:pt x="23720" y="47440"/>
                </a:cubicBezTo>
                <a:lnTo>
                  <a:pt x="8895" y="47440"/>
                </a:lnTo>
                <a:cubicBezTo>
                  <a:pt x="3966" y="47440"/>
                  <a:pt x="0" y="51405"/>
                  <a:pt x="0" y="56335"/>
                </a:cubicBezTo>
                <a:cubicBezTo>
                  <a:pt x="0" y="61264"/>
                  <a:pt x="3966" y="65230"/>
                  <a:pt x="8895" y="65230"/>
                </a:cubicBezTo>
                <a:lnTo>
                  <a:pt x="23720" y="65230"/>
                </a:lnTo>
                <a:lnTo>
                  <a:pt x="23720" y="85984"/>
                </a:lnTo>
                <a:lnTo>
                  <a:pt x="8895" y="85984"/>
                </a:lnTo>
                <a:cubicBezTo>
                  <a:pt x="3966" y="85984"/>
                  <a:pt x="0" y="89950"/>
                  <a:pt x="0" y="94879"/>
                </a:cubicBezTo>
                <a:cubicBezTo>
                  <a:pt x="0" y="99809"/>
                  <a:pt x="3966" y="103774"/>
                  <a:pt x="8895" y="103774"/>
                </a:cubicBezTo>
                <a:lnTo>
                  <a:pt x="23720" y="103774"/>
                </a:lnTo>
                <a:lnTo>
                  <a:pt x="23720" y="124529"/>
                </a:lnTo>
                <a:lnTo>
                  <a:pt x="8895" y="124529"/>
                </a:lnTo>
                <a:cubicBezTo>
                  <a:pt x="3966" y="124529"/>
                  <a:pt x="0" y="128495"/>
                  <a:pt x="0" y="133424"/>
                </a:cubicBezTo>
                <a:cubicBezTo>
                  <a:pt x="0" y="138353"/>
                  <a:pt x="3966" y="142319"/>
                  <a:pt x="8895" y="142319"/>
                </a:cubicBezTo>
                <a:lnTo>
                  <a:pt x="23720" y="142319"/>
                </a:lnTo>
                <a:cubicBezTo>
                  <a:pt x="23720" y="155402"/>
                  <a:pt x="34357" y="166039"/>
                  <a:pt x="47440" y="166039"/>
                </a:cubicBezTo>
                <a:lnTo>
                  <a:pt x="47440" y="180864"/>
                </a:lnTo>
                <a:cubicBezTo>
                  <a:pt x="47440" y="185793"/>
                  <a:pt x="51405" y="189759"/>
                  <a:pt x="56335" y="189759"/>
                </a:cubicBezTo>
                <a:cubicBezTo>
                  <a:pt x="61264" y="189759"/>
                  <a:pt x="65230" y="185793"/>
                  <a:pt x="65230" y="180864"/>
                </a:cubicBezTo>
                <a:lnTo>
                  <a:pt x="65230" y="166039"/>
                </a:lnTo>
                <a:lnTo>
                  <a:pt x="85984" y="166039"/>
                </a:lnTo>
                <a:lnTo>
                  <a:pt x="85984" y="180864"/>
                </a:lnTo>
                <a:cubicBezTo>
                  <a:pt x="85984" y="185793"/>
                  <a:pt x="89950" y="189759"/>
                  <a:pt x="94879" y="189759"/>
                </a:cubicBezTo>
                <a:cubicBezTo>
                  <a:pt x="99809" y="189759"/>
                  <a:pt x="103774" y="185793"/>
                  <a:pt x="103774" y="180864"/>
                </a:cubicBezTo>
                <a:lnTo>
                  <a:pt x="103774" y="166039"/>
                </a:lnTo>
                <a:lnTo>
                  <a:pt x="124529" y="166039"/>
                </a:lnTo>
                <a:lnTo>
                  <a:pt x="124529" y="180864"/>
                </a:lnTo>
                <a:cubicBezTo>
                  <a:pt x="124529" y="185793"/>
                  <a:pt x="128495" y="189759"/>
                  <a:pt x="133424" y="189759"/>
                </a:cubicBezTo>
                <a:cubicBezTo>
                  <a:pt x="138353" y="189759"/>
                  <a:pt x="142319" y="185793"/>
                  <a:pt x="142319" y="180864"/>
                </a:cubicBezTo>
                <a:lnTo>
                  <a:pt x="142319" y="166039"/>
                </a:lnTo>
                <a:cubicBezTo>
                  <a:pt x="155402" y="166039"/>
                  <a:pt x="166039" y="155402"/>
                  <a:pt x="166039" y="142319"/>
                </a:cubicBezTo>
                <a:lnTo>
                  <a:pt x="180864" y="142319"/>
                </a:lnTo>
                <a:cubicBezTo>
                  <a:pt x="185793" y="142319"/>
                  <a:pt x="189759" y="138353"/>
                  <a:pt x="189759" y="133424"/>
                </a:cubicBezTo>
                <a:cubicBezTo>
                  <a:pt x="189759" y="128495"/>
                  <a:pt x="185793" y="124529"/>
                  <a:pt x="180864" y="124529"/>
                </a:cubicBezTo>
                <a:lnTo>
                  <a:pt x="166039" y="124529"/>
                </a:lnTo>
                <a:lnTo>
                  <a:pt x="166039" y="103774"/>
                </a:lnTo>
                <a:lnTo>
                  <a:pt x="180864" y="103774"/>
                </a:lnTo>
                <a:cubicBezTo>
                  <a:pt x="185793" y="103774"/>
                  <a:pt x="189759" y="99809"/>
                  <a:pt x="189759" y="94879"/>
                </a:cubicBezTo>
                <a:cubicBezTo>
                  <a:pt x="189759" y="89950"/>
                  <a:pt x="185793" y="85984"/>
                  <a:pt x="180864" y="85984"/>
                </a:cubicBezTo>
                <a:lnTo>
                  <a:pt x="166039" y="85984"/>
                </a:lnTo>
                <a:lnTo>
                  <a:pt x="166039" y="65230"/>
                </a:lnTo>
                <a:lnTo>
                  <a:pt x="180864" y="65230"/>
                </a:lnTo>
                <a:cubicBezTo>
                  <a:pt x="185793" y="65230"/>
                  <a:pt x="189759" y="61264"/>
                  <a:pt x="189759" y="56335"/>
                </a:cubicBezTo>
                <a:cubicBezTo>
                  <a:pt x="189759" y="51405"/>
                  <a:pt x="185793" y="47440"/>
                  <a:pt x="180864" y="47440"/>
                </a:cubicBezTo>
                <a:lnTo>
                  <a:pt x="166039" y="47440"/>
                </a:lnTo>
                <a:cubicBezTo>
                  <a:pt x="166039" y="34357"/>
                  <a:pt x="155402" y="23720"/>
                  <a:pt x="142319" y="23720"/>
                </a:cubicBezTo>
                <a:lnTo>
                  <a:pt x="142319" y="8895"/>
                </a:lnTo>
                <a:cubicBezTo>
                  <a:pt x="142319" y="3966"/>
                  <a:pt x="138353" y="0"/>
                  <a:pt x="133424" y="0"/>
                </a:cubicBezTo>
                <a:cubicBezTo>
                  <a:pt x="128495" y="0"/>
                  <a:pt x="124529" y="3966"/>
                  <a:pt x="124529" y="8895"/>
                </a:cubicBezTo>
                <a:lnTo>
                  <a:pt x="124529" y="23720"/>
                </a:lnTo>
                <a:lnTo>
                  <a:pt x="103774" y="23720"/>
                </a:lnTo>
                <a:lnTo>
                  <a:pt x="103774" y="8895"/>
                </a:lnTo>
                <a:cubicBezTo>
                  <a:pt x="103774" y="3966"/>
                  <a:pt x="99809" y="0"/>
                  <a:pt x="94879" y="0"/>
                </a:cubicBezTo>
                <a:cubicBezTo>
                  <a:pt x="89950" y="0"/>
                  <a:pt x="85984" y="3966"/>
                  <a:pt x="85984" y="8895"/>
                </a:cubicBezTo>
                <a:lnTo>
                  <a:pt x="85984" y="23720"/>
                </a:lnTo>
                <a:lnTo>
                  <a:pt x="65230" y="23720"/>
                </a:lnTo>
                <a:lnTo>
                  <a:pt x="65230" y="8895"/>
                </a:lnTo>
                <a:close/>
                <a:moveTo>
                  <a:pt x="59300" y="47440"/>
                </a:moveTo>
                <a:lnTo>
                  <a:pt x="130459" y="47440"/>
                </a:lnTo>
                <a:cubicBezTo>
                  <a:pt x="137019" y="47440"/>
                  <a:pt x="142319" y="52740"/>
                  <a:pt x="142319" y="59300"/>
                </a:cubicBezTo>
                <a:lnTo>
                  <a:pt x="142319" y="130459"/>
                </a:lnTo>
                <a:cubicBezTo>
                  <a:pt x="142319" y="137019"/>
                  <a:pt x="137019" y="142319"/>
                  <a:pt x="130459" y="142319"/>
                </a:cubicBezTo>
                <a:lnTo>
                  <a:pt x="59300" y="142319"/>
                </a:lnTo>
                <a:cubicBezTo>
                  <a:pt x="52740" y="142319"/>
                  <a:pt x="47440" y="137019"/>
                  <a:pt x="47440" y="130459"/>
                </a:cubicBezTo>
                <a:lnTo>
                  <a:pt x="47440" y="59300"/>
                </a:lnTo>
                <a:cubicBezTo>
                  <a:pt x="47440" y="52740"/>
                  <a:pt x="52740" y="47440"/>
                  <a:pt x="59300" y="47440"/>
                </a:cubicBezTo>
                <a:close/>
                <a:moveTo>
                  <a:pt x="65230" y="65230"/>
                </a:moveTo>
                <a:lnTo>
                  <a:pt x="65230" y="124529"/>
                </a:lnTo>
                <a:lnTo>
                  <a:pt x="124529" y="124529"/>
                </a:lnTo>
                <a:lnTo>
                  <a:pt x="124529" y="65230"/>
                </a:lnTo>
                <a:lnTo>
                  <a:pt x="65230" y="65230"/>
                </a:ln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3270" y="1707829"/>
            <a:ext cx="1309335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Fees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53994" y="2220177"/>
            <a:ext cx="3358730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Usage-based pricing for running complex, multi-agent instances.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72970" y="2865357"/>
            <a:ext cx="3263851" cy="910842"/>
          </a:xfrm>
          <a:custGeom>
            <a:avLst/>
            <a:gdLst/>
            <a:ahLst/>
            <a:cxnLst/>
            <a:rect l="l" t="t" r="r" b="b"/>
            <a:pathLst>
              <a:path w="3263851" h="910842">
                <a:moveTo>
                  <a:pt x="37952" y="0"/>
                </a:moveTo>
                <a:lnTo>
                  <a:pt x="3187950" y="0"/>
                </a:lnTo>
                <a:cubicBezTo>
                  <a:pt x="3229869" y="0"/>
                  <a:pt x="3263851" y="33982"/>
                  <a:pt x="3263851" y="75900"/>
                </a:cubicBezTo>
                <a:lnTo>
                  <a:pt x="3263851" y="834942"/>
                </a:lnTo>
                <a:cubicBezTo>
                  <a:pt x="3263851" y="876860"/>
                  <a:pt x="3229869" y="910842"/>
                  <a:pt x="3187950" y="910842"/>
                </a:cubicBez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472970" y="2865357"/>
            <a:ext cx="37952" cy="910842"/>
          </a:xfrm>
          <a:custGeom>
            <a:avLst/>
            <a:gdLst/>
            <a:ahLst/>
            <a:cxnLst/>
            <a:rect l="l" t="t" r="r" b="b"/>
            <a:pathLst>
              <a:path w="37952" h="910842">
                <a:moveTo>
                  <a:pt x="37952" y="0"/>
                </a:moveTo>
                <a:lnTo>
                  <a:pt x="37952" y="0"/>
                </a:lnTo>
                <a:lnTo>
                  <a:pt x="37952" y="910842"/>
                </a:ln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2" name="Text 20"/>
          <p:cNvSpPr/>
          <p:nvPr/>
        </p:nvSpPr>
        <p:spPr>
          <a:xfrm>
            <a:off x="4605801" y="2979212"/>
            <a:ext cx="3083580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spc="52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05801" y="3206923"/>
            <a:ext cx="3102556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Pay-per-execution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05801" y="3472585"/>
            <a:ext cx="3083580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Scales with client workload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4721" y="1418447"/>
            <a:ext cx="3671832" cy="2552255"/>
          </a:xfrm>
          <a:custGeom>
            <a:avLst/>
            <a:gdLst/>
            <a:ahLst/>
            <a:cxnLst/>
            <a:rect l="l" t="t" r="r" b="b"/>
            <a:pathLst>
              <a:path w="3671832" h="2552255">
                <a:moveTo>
                  <a:pt x="75904" y="0"/>
                </a:moveTo>
                <a:lnTo>
                  <a:pt x="3595928" y="0"/>
                </a:lnTo>
                <a:cubicBezTo>
                  <a:pt x="3637848" y="0"/>
                  <a:pt x="3671832" y="33983"/>
                  <a:pt x="3671832" y="75904"/>
                </a:cubicBezTo>
                <a:lnTo>
                  <a:pt x="3671832" y="2476351"/>
                </a:lnTo>
                <a:cubicBezTo>
                  <a:pt x="3671832" y="2518272"/>
                  <a:pt x="3637848" y="2552255"/>
                  <a:pt x="3595928" y="2552255"/>
                </a:cubicBezTo>
                <a:lnTo>
                  <a:pt x="75904" y="2552255"/>
                </a:lnTo>
                <a:cubicBezTo>
                  <a:pt x="34011" y="2552255"/>
                  <a:pt x="0" y="2518244"/>
                  <a:pt x="0" y="2476351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9223" y="1612949"/>
            <a:ext cx="455421" cy="455421"/>
          </a:xfrm>
          <a:custGeom>
            <a:avLst/>
            <a:gdLst/>
            <a:ahLst/>
            <a:cxnLst/>
            <a:rect l="l" t="t" r="r" b="b"/>
            <a:pathLst>
              <a:path w="455421" h="455421">
                <a:moveTo>
                  <a:pt x="75905" y="0"/>
                </a:moveTo>
                <a:lnTo>
                  <a:pt x="379516" y="0"/>
                </a:lnTo>
                <a:cubicBezTo>
                  <a:pt x="421437" y="0"/>
                  <a:pt x="455421" y="33984"/>
                  <a:pt x="455421" y="75905"/>
                </a:cubicBezTo>
                <a:lnTo>
                  <a:pt x="455421" y="379516"/>
                </a:lnTo>
                <a:cubicBezTo>
                  <a:pt x="455421" y="421437"/>
                  <a:pt x="421437" y="455421"/>
                  <a:pt x="379516" y="455421"/>
                </a:cubicBezTo>
                <a:lnTo>
                  <a:pt x="75905" y="455421"/>
                </a:lnTo>
                <a:cubicBezTo>
                  <a:pt x="33984" y="455421"/>
                  <a:pt x="0" y="421437"/>
                  <a:pt x="0" y="379516"/>
                </a:cubicBezTo>
                <a:lnTo>
                  <a:pt x="0" y="75905"/>
                </a:lnTo>
                <a:cubicBezTo>
                  <a:pt x="0" y="34012"/>
                  <a:pt x="34012" y="0"/>
                  <a:pt x="75905" y="0"/>
                </a:cubicBezTo>
                <a:close/>
              </a:path>
            </a:pathLst>
          </a:custGeom>
          <a:solidFill>
            <a:srgbClr val="778DA9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462054" y="1745781"/>
            <a:ext cx="189759" cy="189759"/>
          </a:xfrm>
          <a:custGeom>
            <a:avLst/>
            <a:gdLst/>
            <a:ahLst/>
            <a:cxnLst/>
            <a:rect l="l" t="t" r="r" b="b"/>
            <a:pathLst>
              <a:path w="189759" h="189759">
                <a:moveTo>
                  <a:pt x="11378" y="26796"/>
                </a:moveTo>
                <a:cubicBezTo>
                  <a:pt x="13935" y="17938"/>
                  <a:pt x="22052" y="11860"/>
                  <a:pt x="31281" y="11860"/>
                </a:cubicBezTo>
                <a:lnTo>
                  <a:pt x="158775" y="11860"/>
                </a:lnTo>
                <a:cubicBezTo>
                  <a:pt x="168003" y="11860"/>
                  <a:pt x="176120" y="17938"/>
                  <a:pt x="178714" y="26796"/>
                </a:cubicBezTo>
                <a:lnTo>
                  <a:pt x="187387" y="56520"/>
                </a:lnTo>
                <a:cubicBezTo>
                  <a:pt x="192131" y="72716"/>
                  <a:pt x="179937" y="88949"/>
                  <a:pt x="163074" y="88949"/>
                </a:cubicBezTo>
                <a:cubicBezTo>
                  <a:pt x="153327" y="88949"/>
                  <a:pt x="144765" y="83427"/>
                  <a:pt x="140540" y="75199"/>
                </a:cubicBezTo>
                <a:cubicBezTo>
                  <a:pt x="136241" y="83316"/>
                  <a:pt x="127717" y="88949"/>
                  <a:pt x="117784" y="88949"/>
                </a:cubicBezTo>
                <a:cubicBezTo>
                  <a:pt x="107925" y="88949"/>
                  <a:pt x="99364" y="83390"/>
                  <a:pt x="95065" y="75236"/>
                </a:cubicBezTo>
                <a:cubicBezTo>
                  <a:pt x="90765" y="83390"/>
                  <a:pt x="82204" y="88949"/>
                  <a:pt x="72346" y="88949"/>
                </a:cubicBezTo>
                <a:cubicBezTo>
                  <a:pt x="62413" y="88949"/>
                  <a:pt x="53889" y="83353"/>
                  <a:pt x="49589" y="75199"/>
                </a:cubicBezTo>
                <a:cubicBezTo>
                  <a:pt x="45364" y="83390"/>
                  <a:pt x="36803" y="88949"/>
                  <a:pt x="27055" y="88949"/>
                </a:cubicBezTo>
                <a:cubicBezTo>
                  <a:pt x="10155" y="88949"/>
                  <a:pt x="-2001" y="72753"/>
                  <a:pt x="2743" y="56520"/>
                </a:cubicBezTo>
                <a:lnTo>
                  <a:pt x="11378" y="26796"/>
                </a:lnTo>
                <a:close/>
                <a:moveTo>
                  <a:pt x="35728" y="130459"/>
                </a:moveTo>
                <a:lnTo>
                  <a:pt x="154327" y="130459"/>
                </a:lnTo>
                <a:lnTo>
                  <a:pt x="154327" y="105850"/>
                </a:lnTo>
                <a:cubicBezTo>
                  <a:pt x="157144" y="106443"/>
                  <a:pt x="160072" y="106739"/>
                  <a:pt x="163037" y="106739"/>
                </a:cubicBezTo>
                <a:cubicBezTo>
                  <a:pt x="168337" y="106739"/>
                  <a:pt x="173414" y="105776"/>
                  <a:pt x="178047" y="104071"/>
                </a:cubicBezTo>
                <a:lnTo>
                  <a:pt x="178047" y="160109"/>
                </a:lnTo>
                <a:cubicBezTo>
                  <a:pt x="178047" y="169930"/>
                  <a:pt x="170079" y="177899"/>
                  <a:pt x="160257" y="177899"/>
                </a:cubicBezTo>
                <a:lnTo>
                  <a:pt x="29798" y="177899"/>
                </a:lnTo>
                <a:cubicBezTo>
                  <a:pt x="19977" y="177899"/>
                  <a:pt x="12008" y="169930"/>
                  <a:pt x="12008" y="160109"/>
                </a:cubicBezTo>
                <a:lnTo>
                  <a:pt x="12008" y="104071"/>
                </a:lnTo>
                <a:cubicBezTo>
                  <a:pt x="16641" y="105776"/>
                  <a:pt x="21681" y="106739"/>
                  <a:pt x="27018" y="106739"/>
                </a:cubicBezTo>
                <a:cubicBezTo>
                  <a:pt x="30020" y="106739"/>
                  <a:pt x="32911" y="106443"/>
                  <a:pt x="35728" y="105850"/>
                </a:cubicBezTo>
                <a:lnTo>
                  <a:pt x="35728" y="130459"/>
                </a:ln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28" name="Text 26"/>
          <p:cNvSpPr/>
          <p:nvPr/>
        </p:nvSpPr>
        <p:spPr>
          <a:xfrm>
            <a:off x="8898500" y="1707829"/>
            <a:ext cx="2001955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Marketplace Take Rate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29223" y="2220177"/>
            <a:ext cx="3358730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Percentage fee on every workflow instance sold or leased to third-party users.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48199" y="2865357"/>
            <a:ext cx="3263851" cy="910842"/>
          </a:xfrm>
          <a:custGeom>
            <a:avLst/>
            <a:gdLst/>
            <a:ahLst/>
            <a:cxnLst/>
            <a:rect l="l" t="t" r="r" b="b"/>
            <a:pathLst>
              <a:path w="3263851" h="910842">
                <a:moveTo>
                  <a:pt x="37952" y="0"/>
                </a:moveTo>
                <a:lnTo>
                  <a:pt x="3187950" y="0"/>
                </a:lnTo>
                <a:cubicBezTo>
                  <a:pt x="3229869" y="0"/>
                  <a:pt x="3263851" y="33982"/>
                  <a:pt x="3263851" y="75900"/>
                </a:cubicBezTo>
                <a:lnTo>
                  <a:pt x="3263851" y="834942"/>
                </a:lnTo>
                <a:cubicBezTo>
                  <a:pt x="3263851" y="876860"/>
                  <a:pt x="3229869" y="910842"/>
                  <a:pt x="3187950" y="910842"/>
                </a:cubicBez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348199" y="2865357"/>
            <a:ext cx="37952" cy="910842"/>
          </a:xfrm>
          <a:custGeom>
            <a:avLst/>
            <a:gdLst/>
            <a:ahLst/>
            <a:cxnLst/>
            <a:rect l="l" t="t" r="r" b="b"/>
            <a:pathLst>
              <a:path w="37952" h="910842">
                <a:moveTo>
                  <a:pt x="37952" y="0"/>
                </a:moveTo>
                <a:lnTo>
                  <a:pt x="37952" y="0"/>
                </a:lnTo>
                <a:lnTo>
                  <a:pt x="37952" y="910842"/>
                </a:lnTo>
                <a:lnTo>
                  <a:pt x="37952" y="910842"/>
                </a:lnTo>
                <a:cubicBezTo>
                  <a:pt x="16992" y="910842"/>
                  <a:pt x="0" y="893850"/>
                  <a:pt x="0" y="872890"/>
                </a:cubicBezTo>
                <a:lnTo>
                  <a:pt x="0" y="37952"/>
                </a:lnTo>
                <a:cubicBezTo>
                  <a:pt x="0" y="17006"/>
                  <a:pt x="17006" y="0"/>
                  <a:pt x="37952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2" name="Text 30"/>
          <p:cNvSpPr/>
          <p:nvPr/>
        </p:nvSpPr>
        <p:spPr>
          <a:xfrm>
            <a:off x="8481030" y="2979212"/>
            <a:ext cx="3083580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spc="52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Share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81030" y="3206923"/>
            <a:ext cx="3102556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15-30%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81030" y="3472585"/>
            <a:ext cx="3083580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dirty="0">
                <a:solidFill>
                  <a:srgbClr val="F0F2F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transaction value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261" y="4169949"/>
            <a:ext cx="11423477" cy="2685086"/>
          </a:xfrm>
          <a:custGeom>
            <a:avLst/>
            <a:gdLst/>
            <a:ahLst/>
            <a:cxnLst/>
            <a:rect l="l" t="t" r="r" b="b"/>
            <a:pathLst>
              <a:path w="11423477" h="2685086">
                <a:moveTo>
                  <a:pt x="75907" y="0"/>
                </a:moveTo>
                <a:lnTo>
                  <a:pt x="11347570" y="0"/>
                </a:lnTo>
                <a:cubicBezTo>
                  <a:pt x="11389492" y="0"/>
                  <a:pt x="11423477" y="33985"/>
                  <a:pt x="11423477" y="75907"/>
                </a:cubicBezTo>
                <a:lnTo>
                  <a:pt x="11423477" y="2609179"/>
                </a:lnTo>
                <a:cubicBezTo>
                  <a:pt x="11423477" y="2651101"/>
                  <a:pt x="11389492" y="2685086"/>
                  <a:pt x="11347570" y="2685086"/>
                </a:cubicBezTo>
                <a:lnTo>
                  <a:pt x="75907" y="2685086"/>
                </a:lnTo>
                <a:cubicBezTo>
                  <a:pt x="33985" y="2685086"/>
                  <a:pt x="0" y="2651101"/>
                  <a:pt x="0" y="2609179"/>
                </a:cubicBezTo>
                <a:lnTo>
                  <a:pt x="0" y="75907"/>
                </a:lnTo>
                <a:cubicBezTo>
                  <a:pt x="0" y="34013"/>
                  <a:pt x="34013" y="0"/>
                  <a:pt x="75907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2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180" y="4440355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99247" y="113855"/>
                </a:moveTo>
                <a:cubicBezTo>
                  <a:pt x="199247" y="66726"/>
                  <a:pt x="160984" y="28464"/>
                  <a:pt x="113855" y="28464"/>
                </a:cubicBezTo>
                <a:cubicBezTo>
                  <a:pt x="66726" y="28464"/>
                  <a:pt x="28464" y="66726"/>
                  <a:pt x="28464" y="113855"/>
                </a:cubicBezTo>
                <a:cubicBezTo>
                  <a:pt x="28464" y="160984"/>
                  <a:pt x="66726" y="199247"/>
                  <a:pt x="113855" y="199247"/>
                </a:cubicBezTo>
                <a:cubicBezTo>
                  <a:pt x="160984" y="199247"/>
                  <a:pt x="199247" y="160984"/>
                  <a:pt x="199247" y="113855"/>
                </a:cubicBezTo>
                <a:close/>
                <a:moveTo>
                  <a:pt x="0" y="113855"/>
                </a:moveTo>
                <a:cubicBezTo>
                  <a:pt x="0" y="51017"/>
                  <a:pt x="51017" y="0"/>
                  <a:pt x="113855" y="0"/>
                </a:cubicBezTo>
                <a:cubicBezTo>
                  <a:pt x="176694" y="0"/>
                  <a:pt x="227711" y="51017"/>
                  <a:pt x="227711" y="113855"/>
                </a:cubicBezTo>
                <a:cubicBezTo>
                  <a:pt x="227711" y="176694"/>
                  <a:pt x="176694" y="227711"/>
                  <a:pt x="113855" y="227711"/>
                </a:cubicBezTo>
                <a:cubicBezTo>
                  <a:pt x="51017" y="227711"/>
                  <a:pt x="0" y="176694"/>
                  <a:pt x="0" y="113855"/>
                </a:cubicBezTo>
                <a:close/>
                <a:moveTo>
                  <a:pt x="113855" y="149435"/>
                </a:moveTo>
                <a:cubicBezTo>
                  <a:pt x="133492" y="149435"/>
                  <a:pt x="149435" y="133492"/>
                  <a:pt x="149435" y="113855"/>
                </a:cubicBezTo>
                <a:cubicBezTo>
                  <a:pt x="149435" y="94218"/>
                  <a:pt x="133492" y="78275"/>
                  <a:pt x="113855" y="78275"/>
                </a:cubicBezTo>
                <a:cubicBezTo>
                  <a:pt x="94218" y="78275"/>
                  <a:pt x="78275" y="94218"/>
                  <a:pt x="78275" y="113855"/>
                </a:cubicBezTo>
                <a:cubicBezTo>
                  <a:pt x="78275" y="133492"/>
                  <a:pt x="94218" y="149435"/>
                  <a:pt x="113855" y="149435"/>
                </a:cubicBezTo>
                <a:close/>
                <a:moveTo>
                  <a:pt x="113855" y="49812"/>
                </a:moveTo>
                <a:cubicBezTo>
                  <a:pt x="149202" y="49812"/>
                  <a:pt x="177899" y="78509"/>
                  <a:pt x="177899" y="113855"/>
                </a:cubicBezTo>
                <a:cubicBezTo>
                  <a:pt x="177899" y="149202"/>
                  <a:pt x="149202" y="177899"/>
                  <a:pt x="113855" y="177899"/>
                </a:cubicBezTo>
                <a:cubicBezTo>
                  <a:pt x="78509" y="177899"/>
                  <a:pt x="49812" y="149202"/>
                  <a:pt x="49812" y="113855"/>
                </a:cubicBezTo>
                <a:cubicBezTo>
                  <a:pt x="49812" y="78509"/>
                  <a:pt x="78509" y="49812"/>
                  <a:pt x="113855" y="49812"/>
                </a:cubicBezTo>
                <a:close/>
                <a:moveTo>
                  <a:pt x="99623" y="113855"/>
                </a:moveTo>
                <a:cubicBezTo>
                  <a:pt x="99623" y="106000"/>
                  <a:pt x="106000" y="99623"/>
                  <a:pt x="113855" y="99623"/>
                </a:cubicBezTo>
                <a:cubicBezTo>
                  <a:pt x="121710" y="99623"/>
                  <a:pt x="128087" y="106000"/>
                  <a:pt x="128087" y="113855"/>
                </a:cubicBezTo>
                <a:cubicBezTo>
                  <a:pt x="128087" y="121710"/>
                  <a:pt x="121710" y="128087"/>
                  <a:pt x="113855" y="128087"/>
                </a:cubicBezTo>
                <a:cubicBezTo>
                  <a:pt x="106000" y="128087"/>
                  <a:pt x="99623" y="121710"/>
                  <a:pt x="99623" y="113855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7" name="Text 35"/>
          <p:cNvSpPr/>
          <p:nvPr/>
        </p:nvSpPr>
        <p:spPr>
          <a:xfrm>
            <a:off x="901354" y="4402403"/>
            <a:ext cx="10787785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Go-To-Market Strategy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716" y="4895776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189759" y="0"/>
                </a:moveTo>
                <a:lnTo>
                  <a:pt x="189759" y="0"/>
                </a:lnTo>
                <a:cubicBezTo>
                  <a:pt x="294489" y="0"/>
                  <a:pt x="379518" y="85028"/>
                  <a:pt x="379518" y="189759"/>
                </a:cubicBezTo>
                <a:lnTo>
                  <a:pt x="379518" y="189759"/>
                </a:lnTo>
                <a:cubicBezTo>
                  <a:pt x="379518" y="294489"/>
                  <a:pt x="294489" y="379518"/>
                  <a:pt x="189759" y="379518"/>
                </a:cubicBezTo>
                <a:lnTo>
                  <a:pt x="189759" y="379518"/>
                </a:lnTo>
                <a:cubicBezTo>
                  <a:pt x="85028" y="379518"/>
                  <a:pt x="0" y="294489"/>
                  <a:pt x="0" y="189759"/>
                </a:cubicBezTo>
                <a:lnTo>
                  <a:pt x="0" y="189759"/>
                </a:lnTo>
                <a:cubicBezTo>
                  <a:pt x="0" y="85028"/>
                  <a:pt x="85028" y="0"/>
                  <a:pt x="189759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39" name="Text 37"/>
          <p:cNvSpPr/>
          <p:nvPr/>
        </p:nvSpPr>
        <p:spPr>
          <a:xfrm>
            <a:off x="782310" y="4971679"/>
            <a:ext cx="123343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0089" y="4952704"/>
            <a:ext cx="3093068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1: High-Leverage Consultants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6716" y="5427100"/>
            <a:ext cx="5446076" cy="24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independent consultants with high-value, repeatable processes: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5692" y="5825594"/>
            <a:ext cx="151807" cy="151807"/>
          </a:xfrm>
          <a:custGeom>
            <a:avLst/>
            <a:gdLst/>
            <a:ahLst/>
            <a:cxnLst/>
            <a:rect l="l" t="t" r="r" b="b"/>
            <a:pathLst>
              <a:path w="151807" h="151807">
                <a:moveTo>
                  <a:pt x="82367" y="2550"/>
                </a:moveTo>
                <a:cubicBezTo>
                  <a:pt x="78720" y="-830"/>
                  <a:pt x="73087" y="-830"/>
                  <a:pt x="69469" y="2550"/>
                </a:cubicBezTo>
                <a:lnTo>
                  <a:pt x="3054" y="64221"/>
                </a:lnTo>
                <a:cubicBezTo>
                  <a:pt x="208" y="66890"/>
                  <a:pt x="-741" y="71011"/>
                  <a:pt x="682" y="74629"/>
                </a:cubicBezTo>
                <a:cubicBezTo>
                  <a:pt x="2105" y="78246"/>
                  <a:pt x="5574" y="80647"/>
                  <a:pt x="9488" y="80647"/>
                </a:cubicBezTo>
                <a:lnTo>
                  <a:pt x="14232" y="80647"/>
                </a:lnTo>
                <a:lnTo>
                  <a:pt x="14232" y="132831"/>
                </a:lnTo>
                <a:cubicBezTo>
                  <a:pt x="14232" y="143298"/>
                  <a:pt x="22741" y="151807"/>
                  <a:pt x="33208" y="151807"/>
                </a:cubicBezTo>
                <a:lnTo>
                  <a:pt x="118599" y="151807"/>
                </a:lnTo>
                <a:cubicBezTo>
                  <a:pt x="129066" y="151807"/>
                  <a:pt x="137575" y="143298"/>
                  <a:pt x="137575" y="132831"/>
                </a:cubicBezTo>
                <a:lnTo>
                  <a:pt x="137575" y="80647"/>
                </a:lnTo>
                <a:lnTo>
                  <a:pt x="142319" y="80647"/>
                </a:lnTo>
                <a:cubicBezTo>
                  <a:pt x="146233" y="80647"/>
                  <a:pt x="149732" y="78246"/>
                  <a:pt x="151155" y="74629"/>
                </a:cubicBezTo>
                <a:cubicBezTo>
                  <a:pt x="152578" y="71011"/>
                  <a:pt x="151629" y="66860"/>
                  <a:pt x="148783" y="64221"/>
                </a:cubicBezTo>
                <a:lnTo>
                  <a:pt x="82367" y="2550"/>
                </a:lnTo>
                <a:close/>
                <a:moveTo>
                  <a:pt x="71160" y="94879"/>
                </a:moveTo>
                <a:lnTo>
                  <a:pt x="80647" y="94879"/>
                </a:lnTo>
                <a:cubicBezTo>
                  <a:pt x="88505" y="94879"/>
                  <a:pt x="94879" y="101254"/>
                  <a:pt x="94879" y="109111"/>
                </a:cubicBezTo>
                <a:lnTo>
                  <a:pt x="94879" y="137575"/>
                </a:lnTo>
                <a:lnTo>
                  <a:pt x="56928" y="137575"/>
                </a:lnTo>
                <a:lnTo>
                  <a:pt x="56928" y="109111"/>
                </a:lnTo>
                <a:cubicBezTo>
                  <a:pt x="56928" y="101254"/>
                  <a:pt x="63302" y="94879"/>
                  <a:pt x="71160" y="94879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43" name="Text 41"/>
          <p:cNvSpPr/>
          <p:nvPr/>
        </p:nvSpPr>
        <p:spPr>
          <a:xfrm>
            <a:off x="882378" y="5787642"/>
            <a:ext cx="2125298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estate investment analysts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6204" y="6129208"/>
            <a:ext cx="170783" cy="151807"/>
          </a:xfrm>
          <a:custGeom>
            <a:avLst/>
            <a:gdLst/>
            <a:ahLst/>
            <a:cxnLst/>
            <a:rect l="l" t="t" r="r" b="b"/>
            <a:pathLst>
              <a:path w="170783" h="151807">
                <a:moveTo>
                  <a:pt x="151926" y="71160"/>
                </a:moveTo>
                <a:lnTo>
                  <a:pt x="99742" y="71160"/>
                </a:lnTo>
                <a:cubicBezTo>
                  <a:pt x="94494" y="71160"/>
                  <a:pt x="90254" y="66920"/>
                  <a:pt x="90254" y="61672"/>
                </a:cubicBezTo>
                <a:lnTo>
                  <a:pt x="90254" y="9488"/>
                </a:lnTo>
                <a:cubicBezTo>
                  <a:pt x="90254" y="4240"/>
                  <a:pt x="94524" y="-59"/>
                  <a:pt x="99712" y="623"/>
                </a:cubicBezTo>
                <a:cubicBezTo>
                  <a:pt x="131438" y="4833"/>
                  <a:pt x="156581" y="29976"/>
                  <a:pt x="160791" y="61701"/>
                </a:cubicBezTo>
                <a:cubicBezTo>
                  <a:pt x="161473" y="66890"/>
                  <a:pt x="157174" y="71160"/>
                  <a:pt x="151926" y="71160"/>
                </a:cubicBezTo>
                <a:close/>
                <a:moveTo>
                  <a:pt x="66000" y="11030"/>
                </a:moveTo>
                <a:cubicBezTo>
                  <a:pt x="71367" y="9903"/>
                  <a:pt x="76022" y="14291"/>
                  <a:pt x="76022" y="19776"/>
                </a:cubicBezTo>
                <a:lnTo>
                  <a:pt x="76022" y="78275"/>
                </a:lnTo>
                <a:cubicBezTo>
                  <a:pt x="76022" y="79936"/>
                  <a:pt x="76615" y="81537"/>
                  <a:pt x="77653" y="82812"/>
                </a:cubicBezTo>
                <a:lnTo>
                  <a:pt x="116820" y="130074"/>
                </a:lnTo>
                <a:cubicBezTo>
                  <a:pt x="120289" y="134254"/>
                  <a:pt x="119548" y="140570"/>
                  <a:pt x="114774" y="143149"/>
                </a:cubicBezTo>
                <a:cubicBezTo>
                  <a:pt x="104664" y="148664"/>
                  <a:pt x="93071" y="151807"/>
                  <a:pt x="80766" y="151807"/>
                </a:cubicBezTo>
                <a:cubicBezTo>
                  <a:pt x="41480" y="151807"/>
                  <a:pt x="9607" y="119933"/>
                  <a:pt x="9607" y="80647"/>
                </a:cubicBezTo>
                <a:cubicBezTo>
                  <a:pt x="9607" y="46402"/>
                  <a:pt x="33771" y="17820"/>
                  <a:pt x="66000" y="11030"/>
                </a:cubicBezTo>
                <a:close/>
                <a:moveTo>
                  <a:pt x="141667" y="85391"/>
                </a:moveTo>
                <a:lnTo>
                  <a:pt x="160643" y="85391"/>
                </a:lnTo>
                <a:cubicBezTo>
                  <a:pt x="166128" y="85391"/>
                  <a:pt x="170516" y="90046"/>
                  <a:pt x="169389" y="95413"/>
                </a:cubicBezTo>
                <a:cubicBezTo>
                  <a:pt x="166365" y="109764"/>
                  <a:pt x="159012" y="122513"/>
                  <a:pt x="148753" y="132238"/>
                </a:cubicBezTo>
                <a:cubicBezTo>
                  <a:pt x="145106" y="135707"/>
                  <a:pt x="139384" y="134966"/>
                  <a:pt x="136182" y="131082"/>
                </a:cubicBezTo>
                <a:lnTo>
                  <a:pt x="111157" y="100928"/>
                </a:lnTo>
                <a:cubicBezTo>
                  <a:pt x="106028" y="94731"/>
                  <a:pt x="110446" y="85391"/>
                  <a:pt x="118451" y="85391"/>
                </a:cubicBezTo>
                <a:lnTo>
                  <a:pt x="141637" y="85391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45" name="Text 43"/>
          <p:cNvSpPr/>
          <p:nvPr/>
        </p:nvSpPr>
        <p:spPr>
          <a:xfrm>
            <a:off x="882378" y="6091256"/>
            <a:ext cx="1982979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analysis consultants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716" y="6432822"/>
            <a:ext cx="189759" cy="151807"/>
          </a:xfrm>
          <a:custGeom>
            <a:avLst/>
            <a:gdLst/>
            <a:ahLst/>
            <a:cxnLst/>
            <a:rect l="l" t="t" r="r" b="b"/>
            <a:pathLst>
              <a:path w="189759" h="151807">
                <a:moveTo>
                  <a:pt x="113855" y="9488"/>
                </a:moveTo>
                <a:lnTo>
                  <a:pt x="151807" y="9488"/>
                </a:lnTo>
                <a:cubicBezTo>
                  <a:pt x="157055" y="9488"/>
                  <a:pt x="161295" y="13728"/>
                  <a:pt x="161295" y="18976"/>
                </a:cubicBezTo>
                <a:cubicBezTo>
                  <a:pt x="161295" y="24224"/>
                  <a:pt x="157055" y="28464"/>
                  <a:pt x="151807" y="28464"/>
                </a:cubicBezTo>
                <a:lnTo>
                  <a:pt x="118125" y="28464"/>
                </a:lnTo>
                <a:cubicBezTo>
                  <a:pt x="116583" y="36113"/>
                  <a:pt x="111335" y="42429"/>
                  <a:pt x="104367" y="45453"/>
                </a:cubicBezTo>
                <a:lnTo>
                  <a:pt x="104367" y="132831"/>
                </a:lnTo>
                <a:lnTo>
                  <a:pt x="151807" y="132831"/>
                </a:lnTo>
                <a:cubicBezTo>
                  <a:pt x="157055" y="132831"/>
                  <a:pt x="161295" y="137071"/>
                  <a:pt x="161295" y="142319"/>
                </a:cubicBezTo>
                <a:cubicBezTo>
                  <a:pt x="161295" y="147567"/>
                  <a:pt x="157055" y="151807"/>
                  <a:pt x="151807" y="151807"/>
                </a:cubicBezTo>
                <a:lnTo>
                  <a:pt x="37952" y="151807"/>
                </a:lnTo>
                <a:cubicBezTo>
                  <a:pt x="32704" y="151807"/>
                  <a:pt x="28464" y="147567"/>
                  <a:pt x="28464" y="142319"/>
                </a:cubicBezTo>
                <a:cubicBezTo>
                  <a:pt x="28464" y="137071"/>
                  <a:pt x="32704" y="132831"/>
                  <a:pt x="37952" y="132831"/>
                </a:cubicBezTo>
                <a:lnTo>
                  <a:pt x="85391" y="132831"/>
                </a:lnTo>
                <a:lnTo>
                  <a:pt x="85391" y="45453"/>
                </a:lnTo>
                <a:cubicBezTo>
                  <a:pt x="78424" y="42399"/>
                  <a:pt x="73176" y="36084"/>
                  <a:pt x="71634" y="28464"/>
                </a:cubicBezTo>
                <a:lnTo>
                  <a:pt x="37952" y="28464"/>
                </a:lnTo>
                <a:cubicBezTo>
                  <a:pt x="32704" y="28464"/>
                  <a:pt x="28464" y="24224"/>
                  <a:pt x="28464" y="18976"/>
                </a:cubicBezTo>
                <a:cubicBezTo>
                  <a:pt x="28464" y="13728"/>
                  <a:pt x="32704" y="9488"/>
                  <a:pt x="37952" y="9488"/>
                </a:cubicBezTo>
                <a:lnTo>
                  <a:pt x="75904" y="9488"/>
                </a:lnTo>
                <a:cubicBezTo>
                  <a:pt x="80232" y="3736"/>
                  <a:pt x="87111" y="0"/>
                  <a:pt x="94879" y="0"/>
                </a:cubicBezTo>
                <a:cubicBezTo>
                  <a:pt x="102648" y="0"/>
                  <a:pt x="109526" y="3736"/>
                  <a:pt x="113855" y="9488"/>
                </a:cubicBezTo>
                <a:close/>
                <a:moveTo>
                  <a:pt x="130341" y="94879"/>
                </a:moveTo>
                <a:lnTo>
                  <a:pt x="173273" y="94879"/>
                </a:lnTo>
                <a:lnTo>
                  <a:pt x="151807" y="58054"/>
                </a:lnTo>
                <a:lnTo>
                  <a:pt x="130341" y="94879"/>
                </a:lnTo>
                <a:close/>
                <a:moveTo>
                  <a:pt x="151807" y="123343"/>
                </a:moveTo>
                <a:cubicBezTo>
                  <a:pt x="133157" y="123343"/>
                  <a:pt x="117650" y="113262"/>
                  <a:pt x="114448" y="99949"/>
                </a:cubicBezTo>
                <a:cubicBezTo>
                  <a:pt x="113677" y="96688"/>
                  <a:pt x="114745" y="93338"/>
                  <a:pt x="116435" y="90432"/>
                </a:cubicBezTo>
                <a:lnTo>
                  <a:pt x="144661" y="42043"/>
                </a:lnTo>
                <a:cubicBezTo>
                  <a:pt x="146144" y="39494"/>
                  <a:pt x="148872" y="37952"/>
                  <a:pt x="151807" y="37952"/>
                </a:cubicBezTo>
                <a:cubicBezTo>
                  <a:pt x="154742" y="37952"/>
                  <a:pt x="157470" y="39523"/>
                  <a:pt x="158953" y="42043"/>
                </a:cubicBezTo>
                <a:lnTo>
                  <a:pt x="187179" y="90432"/>
                </a:lnTo>
                <a:cubicBezTo>
                  <a:pt x="188869" y="93338"/>
                  <a:pt x="189937" y="96688"/>
                  <a:pt x="189166" y="99949"/>
                </a:cubicBezTo>
                <a:cubicBezTo>
                  <a:pt x="185964" y="113233"/>
                  <a:pt x="170457" y="123343"/>
                  <a:pt x="151807" y="123343"/>
                </a:cubicBezTo>
                <a:close/>
                <a:moveTo>
                  <a:pt x="37596" y="58054"/>
                </a:moveTo>
                <a:lnTo>
                  <a:pt x="16129" y="94879"/>
                </a:lnTo>
                <a:lnTo>
                  <a:pt x="59092" y="94879"/>
                </a:lnTo>
                <a:lnTo>
                  <a:pt x="37596" y="58054"/>
                </a:lnTo>
                <a:close/>
                <a:moveTo>
                  <a:pt x="267" y="99949"/>
                </a:moveTo>
                <a:cubicBezTo>
                  <a:pt x="-504" y="96688"/>
                  <a:pt x="563" y="93338"/>
                  <a:pt x="2253" y="90432"/>
                </a:cubicBezTo>
                <a:lnTo>
                  <a:pt x="30480" y="42043"/>
                </a:lnTo>
                <a:cubicBezTo>
                  <a:pt x="31962" y="39494"/>
                  <a:pt x="34690" y="37952"/>
                  <a:pt x="37626" y="37952"/>
                </a:cubicBezTo>
                <a:cubicBezTo>
                  <a:pt x="40561" y="37952"/>
                  <a:pt x="43289" y="39523"/>
                  <a:pt x="44771" y="42043"/>
                </a:cubicBezTo>
                <a:lnTo>
                  <a:pt x="72998" y="90432"/>
                </a:lnTo>
                <a:cubicBezTo>
                  <a:pt x="74688" y="93338"/>
                  <a:pt x="75755" y="96688"/>
                  <a:pt x="74984" y="99949"/>
                </a:cubicBezTo>
                <a:cubicBezTo>
                  <a:pt x="71782" y="113233"/>
                  <a:pt x="56275" y="123343"/>
                  <a:pt x="37626" y="123343"/>
                </a:cubicBezTo>
                <a:cubicBezTo>
                  <a:pt x="18976" y="123343"/>
                  <a:pt x="3469" y="113262"/>
                  <a:pt x="267" y="99949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47" name="Text 45"/>
          <p:cNvSpPr/>
          <p:nvPr/>
        </p:nvSpPr>
        <p:spPr>
          <a:xfrm>
            <a:off x="882378" y="6394870"/>
            <a:ext cx="192605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Legal research professionals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1338" y="4895776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189759" y="0"/>
                </a:moveTo>
                <a:lnTo>
                  <a:pt x="189759" y="0"/>
                </a:lnTo>
                <a:cubicBezTo>
                  <a:pt x="294489" y="0"/>
                  <a:pt x="379518" y="85028"/>
                  <a:pt x="379518" y="189759"/>
                </a:cubicBezTo>
                <a:lnTo>
                  <a:pt x="379518" y="189759"/>
                </a:lnTo>
                <a:cubicBezTo>
                  <a:pt x="379518" y="294489"/>
                  <a:pt x="294489" y="379518"/>
                  <a:pt x="189759" y="379518"/>
                </a:cubicBezTo>
                <a:lnTo>
                  <a:pt x="189759" y="379518"/>
                </a:lnTo>
                <a:cubicBezTo>
                  <a:pt x="85028" y="379518"/>
                  <a:pt x="0" y="294489"/>
                  <a:pt x="0" y="189759"/>
                </a:cubicBezTo>
                <a:lnTo>
                  <a:pt x="0" y="189759"/>
                </a:lnTo>
                <a:cubicBezTo>
                  <a:pt x="0" y="85028"/>
                  <a:pt x="85028" y="0"/>
                  <a:pt x="189759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49" name="Text 47"/>
          <p:cNvSpPr/>
          <p:nvPr/>
        </p:nvSpPr>
        <p:spPr>
          <a:xfrm>
            <a:off x="6362404" y="4971679"/>
            <a:ext cx="151807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04711" y="4952704"/>
            <a:ext cx="2400448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4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2: Scale to Enterprise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11338" y="5427100"/>
            <a:ext cx="5446076" cy="246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to mid-market and enterprise teams: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49289" y="5825594"/>
            <a:ext cx="113855" cy="151807"/>
          </a:xfrm>
          <a:custGeom>
            <a:avLst/>
            <a:gdLst/>
            <a:ahLst/>
            <a:cxnLst/>
            <a:rect l="l" t="t" r="r" b="b"/>
            <a:pathLst>
              <a:path w="113855" h="151807">
                <a:moveTo>
                  <a:pt x="18976" y="0"/>
                </a:moveTo>
                <a:cubicBezTo>
                  <a:pt x="8509" y="0"/>
                  <a:pt x="0" y="8509"/>
                  <a:pt x="0" y="18976"/>
                </a:cubicBezTo>
                <a:lnTo>
                  <a:pt x="0" y="132831"/>
                </a:lnTo>
                <a:cubicBezTo>
                  <a:pt x="0" y="143298"/>
                  <a:pt x="8509" y="151807"/>
                  <a:pt x="18976" y="151807"/>
                </a:cubicBezTo>
                <a:lnTo>
                  <a:pt x="94879" y="151807"/>
                </a:lnTo>
                <a:cubicBezTo>
                  <a:pt x="105346" y="151807"/>
                  <a:pt x="113855" y="143298"/>
                  <a:pt x="113855" y="132831"/>
                </a:cubicBezTo>
                <a:lnTo>
                  <a:pt x="113855" y="18976"/>
                </a:lnTo>
                <a:cubicBezTo>
                  <a:pt x="113855" y="8509"/>
                  <a:pt x="105346" y="0"/>
                  <a:pt x="94879" y="0"/>
                </a:cubicBezTo>
                <a:lnTo>
                  <a:pt x="18976" y="0"/>
                </a:lnTo>
                <a:close/>
                <a:moveTo>
                  <a:pt x="52184" y="104367"/>
                </a:moveTo>
                <a:lnTo>
                  <a:pt x="61672" y="104367"/>
                </a:lnTo>
                <a:cubicBezTo>
                  <a:pt x="66920" y="104367"/>
                  <a:pt x="71160" y="108607"/>
                  <a:pt x="71160" y="113855"/>
                </a:cubicBezTo>
                <a:lnTo>
                  <a:pt x="71160" y="137575"/>
                </a:lnTo>
                <a:lnTo>
                  <a:pt x="42696" y="137575"/>
                </a:lnTo>
                <a:lnTo>
                  <a:pt x="42696" y="113855"/>
                </a:lnTo>
                <a:cubicBezTo>
                  <a:pt x="42696" y="108607"/>
                  <a:pt x="46936" y="104367"/>
                  <a:pt x="52184" y="104367"/>
                </a:cubicBezTo>
                <a:close/>
                <a:moveTo>
                  <a:pt x="28464" y="33208"/>
                </a:moveTo>
                <a:cubicBezTo>
                  <a:pt x="28464" y="30599"/>
                  <a:pt x="30599" y="28464"/>
                  <a:pt x="33208" y="28464"/>
                </a:cubicBezTo>
                <a:lnTo>
                  <a:pt x="42696" y="28464"/>
                </a:lnTo>
                <a:cubicBezTo>
                  <a:pt x="45305" y="28464"/>
                  <a:pt x="47440" y="30599"/>
                  <a:pt x="47440" y="33208"/>
                </a:cubicBezTo>
                <a:lnTo>
                  <a:pt x="47440" y="42696"/>
                </a:lnTo>
                <a:cubicBezTo>
                  <a:pt x="47440" y="45305"/>
                  <a:pt x="45305" y="47440"/>
                  <a:pt x="42696" y="47440"/>
                </a:cubicBezTo>
                <a:lnTo>
                  <a:pt x="33208" y="47440"/>
                </a:lnTo>
                <a:cubicBezTo>
                  <a:pt x="30599" y="47440"/>
                  <a:pt x="28464" y="45305"/>
                  <a:pt x="28464" y="42696"/>
                </a:cubicBezTo>
                <a:lnTo>
                  <a:pt x="28464" y="33208"/>
                </a:lnTo>
                <a:close/>
                <a:moveTo>
                  <a:pt x="71160" y="28464"/>
                </a:moveTo>
                <a:lnTo>
                  <a:pt x="80647" y="28464"/>
                </a:lnTo>
                <a:cubicBezTo>
                  <a:pt x="83257" y="28464"/>
                  <a:pt x="85391" y="30599"/>
                  <a:pt x="85391" y="33208"/>
                </a:cubicBezTo>
                <a:lnTo>
                  <a:pt x="85391" y="42696"/>
                </a:lnTo>
                <a:cubicBezTo>
                  <a:pt x="85391" y="45305"/>
                  <a:pt x="83257" y="47440"/>
                  <a:pt x="80647" y="47440"/>
                </a:cubicBezTo>
                <a:lnTo>
                  <a:pt x="71160" y="47440"/>
                </a:lnTo>
                <a:cubicBezTo>
                  <a:pt x="68550" y="47440"/>
                  <a:pt x="66416" y="45305"/>
                  <a:pt x="66416" y="42696"/>
                </a:cubicBezTo>
                <a:lnTo>
                  <a:pt x="66416" y="33208"/>
                </a:lnTo>
                <a:cubicBezTo>
                  <a:pt x="66416" y="30599"/>
                  <a:pt x="68550" y="28464"/>
                  <a:pt x="71160" y="28464"/>
                </a:cubicBezTo>
                <a:close/>
                <a:moveTo>
                  <a:pt x="28464" y="71160"/>
                </a:moveTo>
                <a:cubicBezTo>
                  <a:pt x="28464" y="68550"/>
                  <a:pt x="30599" y="66416"/>
                  <a:pt x="33208" y="66416"/>
                </a:cubicBezTo>
                <a:lnTo>
                  <a:pt x="42696" y="66416"/>
                </a:lnTo>
                <a:cubicBezTo>
                  <a:pt x="45305" y="66416"/>
                  <a:pt x="47440" y="68550"/>
                  <a:pt x="47440" y="71160"/>
                </a:cubicBezTo>
                <a:lnTo>
                  <a:pt x="47440" y="80647"/>
                </a:lnTo>
                <a:cubicBezTo>
                  <a:pt x="47440" y="83257"/>
                  <a:pt x="45305" y="85391"/>
                  <a:pt x="42696" y="85391"/>
                </a:cubicBezTo>
                <a:lnTo>
                  <a:pt x="33208" y="85391"/>
                </a:lnTo>
                <a:cubicBezTo>
                  <a:pt x="30599" y="85391"/>
                  <a:pt x="28464" y="83257"/>
                  <a:pt x="28464" y="80647"/>
                </a:cubicBezTo>
                <a:lnTo>
                  <a:pt x="28464" y="71160"/>
                </a:lnTo>
                <a:close/>
                <a:moveTo>
                  <a:pt x="71160" y="66416"/>
                </a:moveTo>
                <a:lnTo>
                  <a:pt x="80647" y="66416"/>
                </a:lnTo>
                <a:cubicBezTo>
                  <a:pt x="83257" y="66416"/>
                  <a:pt x="85391" y="68550"/>
                  <a:pt x="85391" y="71160"/>
                </a:cubicBezTo>
                <a:lnTo>
                  <a:pt x="85391" y="80647"/>
                </a:lnTo>
                <a:cubicBezTo>
                  <a:pt x="85391" y="83257"/>
                  <a:pt x="83257" y="85391"/>
                  <a:pt x="80647" y="85391"/>
                </a:cubicBezTo>
                <a:lnTo>
                  <a:pt x="71160" y="85391"/>
                </a:lnTo>
                <a:cubicBezTo>
                  <a:pt x="68550" y="85391"/>
                  <a:pt x="66416" y="83257"/>
                  <a:pt x="66416" y="80647"/>
                </a:cubicBezTo>
                <a:lnTo>
                  <a:pt x="66416" y="71160"/>
                </a:lnTo>
                <a:cubicBezTo>
                  <a:pt x="66416" y="68550"/>
                  <a:pt x="68550" y="66416"/>
                  <a:pt x="71160" y="66416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53" name="Text 51"/>
          <p:cNvSpPr/>
          <p:nvPr/>
        </p:nvSpPr>
        <p:spPr>
          <a:xfrm>
            <a:off x="6477000" y="5787642"/>
            <a:ext cx="2514304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Consulting firms (McKinsey, BCG tier)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30314" y="6129208"/>
            <a:ext cx="151807" cy="151807"/>
          </a:xfrm>
          <a:custGeom>
            <a:avLst/>
            <a:gdLst/>
            <a:ahLst/>
            <a:cxnLst/>
            <a:rect l="l" t="t" r="r" b="b"/>
            <a:pathLst>
              <a:path w="151807" h="151807">
                <a:moveTo>
                  <a:pt x="9488" y="9488"/>
                </a:moveTo>
                <a:cubicBezTo>
                  <a:pt x="4240" y="9488"/>
                  <a:pt x="0" y="13728"/>
                  <a:pt x="0" y="18976"/>
                </a:cubicBezTo>
                <a:lnTo>
                  <a:pt x="0" y="128087"/>
                </a:lnTo>
                <a:cubicBezTo>
                  <a:pt x="0" y="135944"/>
                  <a:pt x="6375" y="142319"/>
                  <a:pt x="14232" y="142319"/>
                </a:cubicBezTo>
                <a:lnTo>
                  <a:pt x="137575" y="142319"/>
                </a:lnTo>
                <a:cubicBezTo>
                  <a:pt x="145432" y="142319"/>
                  <a:pt x="151807" y="135944"/>
                  <a:pt x="151807" y="128087"/>
                </a:cubicBezTo>
                <a:lnTo>
                  <a:pt x="151807" y="45127"/>
                </a:lnTo>
                <a:cubicBezTo>
                  <a:pt x="151807" y="39731"/>
                  <a:pt x="146055" y="36321"/>
                  <a:pt x="141311" y="38871"/>
                </a:cubicBezTo>
                <a:lnTo>
                  <a:pt x="94879" y="63866"/>
                </a:lnTo>
                <a:lnTo>
                  <a:pt x="94879" y="45127"/>
                </a:lnTo>
                <a:cubicBezTo>
                  <a:pt x="94879" y="39731"/>
                  <a:pt x="89127" y="36321"/>
                  <a:pt x="84383" y="38871"/>
                </a:cubicBezTo>
                <a:lnTo>
                  <a:pt x="37952" y="63866"/>
                </a:lnTo>
                <a:lnTo>
                  <a:pt x="37952" y="18976"/>
                </a:lnTo>
                <a:cubicBezTo>
                  <a:pt x="37952" y="13728"/>
                  <a:pt x="33712" y="9488"/>
                  <a:pt x="28464" y="9488"/>
                </a:cubicBezTo>
                <a:lnTo>
                  <a:pt x="9488" y="9488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55" name="Text 53"/>
          <p:cNvSpPr/>
          <p:nvPr/>
        </p:nvSpPr>
        <p:spPr>
          <a:xfrm>
            <a:off x="6477000" y="6091256"/>
            <a:ext cx="1679365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analyst teams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20826" y="6432822"/>
            <a:ext cx="170783" cy="151807"/>
          </a:xfrm>
          <a:custGeom>
            <a:avLst/>
            <a:gdLst/>
            <a:ahLst/>
            <a:cxnLst/>
            <a:rect l="l" t="t" r="r" b="b"/>
            <a:pathLst>
              <a:path w="170783" h="151807">
                <a:moveTo>
                  <a:pt x="14232" y="58054"/>
                </a:moveTo>
                <a:lnTo>
                  <a:pt x="76259" y="83583"/>
                </a:lnTo>
                <a:cubicBezTo>
                  <a:pt x="79165" y="84769"/>
                  <a:pt x="82249" y="85391"/>
                  <a:pt x="85391" y="85391"/>
                </a:cubicBezTo>
                <a:cubicBezTo>
                  <a:pt x="88534" y="85391"/>
                  <a:pt x="91618" y="84769"/>
                  <a:pt x="94524" y="83583"/>
                </a:cubicBezTo>
                <a:lnTo>
                  <a:pt x="166395" y="53992"/>
                </a:lnTo>
                <a:cubicBezTo>
                  <a:pt x="169063" y="52895"/>
                  <a:pt x="170783" y="50316"/>
                  <a:pt x="170783" y="47440"/>
                </a:cubicBezTo>
                <a:cubicBezTo>
                  <a:pt x="170783" y="44564"/>
                  <a:pt x="169063" y="41984"/>
                  <a:pt x="166395" y="40887"/>
                </a:cubicBezTo>
                <a:lnTo>
                  <a:pt x="94524" y="11297"/>
                </a:lnTo>
                <a:cubicBezTo>
                  <a:pt x="91618" y="10111"/>
                  <a:pt x="88534" y="9488"/>
                  <a:pt x="85391" y="9488"/>
                </a:cubicBezTo>
                <a:cubicBezTo>
                  <a:pt x="82249" y="9488"/>
                  <a:pt x="79165" y="10111"/>
                  <a:pt x="76259" y="11297"/>
                </a:cubicBezTo>
                <a:lnTo>
                  <a:pt x="4388" y="40887"/>
                </a:lnTo>
                <a:cubicBezTo>
                  <a:pt x="1720" y="41984"/>
                  <a:pt x="0" y="44564"/>
                  <a:pt x="0" y="47440"/>
                </a:cubicBezTo>
                <a:lnTo>
                  <a:pt x="0" y="135203"/>
                </a:lnTo>
                <a:cubicBezTo>
                  <a:pt x="0" y="139147"/>
                  <a:pt x="3173" y="142319"/>
                  <a:pt x="7116" y="142319"/>
                </a:cubicBezTo>
                <a:cubicBezTo>
                  <a:pt x="11059" y="142319"/>
                  <a:pt x="14232" y="139147"/>
                  <a:pt x="14232" y="135203"/>
                </a:cubicBezTo>
                <a:lnTo>
                  <a:pt x="14232" y="58054"/>
                </a:lnTo>
                <a:close/>
                <a:moveTo>
                  <a:pt x="28464" y="79313"/>
                </a:moveTo>
                <a:lnTo>
                  <a:pt x="28464" y="113855"/>
                </a:lnTo>
                <a:cubicBezTo>
                  <a:pt x="28464" y="129570"/>
                  <a:pt x="53963" y="142319"/>
                  <a:pt x="85391" y="142319"/>
                </a:cubicBezTo>
                <a:cubicBezTo>
                  <a:pt x="116820" y="142319"/>
                  <a:pt x="142319" y="129570"/>
                  <a:pt x="142319" y="113855"/>
                </a:cubicBezTo>
                <a:lnTo>
                  <a:pt x="142319" y="79284"/>
                </a:lnTo>
                <a:lnTo>
                  <a:pt x="99949" y="96747"/>
                </a:lnTo>
                <a:cubicBezTo>
                  <a:pt x="95324" y="98645"/>
                  <a:pt x="90402" y="99623"/>
                  <a:pt x="85391" y="99623"/>
                </a:cubicBezTo>
                <a:cubicBezTo>
                  <a:pt x="80381" y="99623"/>
                  <a:pt x="75459" y="98645"/>
                  <a:pt x="70833" y="96747"/>
                </a:cubicBezTo>
                <a:lnTo>
                  <a:pt x="28464" y="79284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57" name="Text 55"/>
          <p:cNvSpPr/>
          <p:nvPr/>
        </p:nvSpPr>
        <p:spPr>
          <a:xfrm>
            <a:off x="6477000" y="6394870"/>
            <a:ext cx="2296081" cy="227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5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training organizations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Advantage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Team: Why 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90625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23988"/>
            <a:ext cx="5610225" cy="1724025"/>
          </a:xfrm>
          <a:custGeom>
            <a:avLst/>
            <a:gdLst/>
            <a:ahLst/>
            <a:cxnLst/>
            <a:rect l="l" t="t" r="r" b="b"/>
            <a:pathLst>
              <a:path w="5610225" h="1724025">
                <a:moveTo>
                  <a:pt x="76202" y="0"/>
                </a:moveTo>
                <a:lnTo>
                  <a:pt x="5534023" y="0"/>
                </a:lnTo>
                <a:cubicBezTo>
                  <a:pt x="5576108" y="0"/>
                  <a:pt x="5610225" y="34117"/>
                  <a:pt x="5610225" y="76202"/>
                </a:cubicBezTo>
                <a:lnTo>
                  <a:pt x="5610225" y="1647823"/>
                </a:lnTo>
                <a:cubicBezTo>
                  <a:pt x="5610225" y="1689908"/>
                  <a:pt x="5576108" y="1724025"/>
                  <a:pt x="5534023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15A77">
              <a:alpha val="5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338" y="18478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8" name="Text 6"/>
          <p:cNvSpPr/>
          <p:nvPr/>
        </p:nvSpPr>
        <p:spPr>
          <a:xfrm>
            <a:off x="1381125" y="1695450"/>
            <a:ext cx="272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Technical Execution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200025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 Years Full-Stack Engineering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9125" y="241935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Led by a founder with over 15 years of full-stack engineering experience, building scalable systems from zero to millions of users.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309938"/>
            <a:ext cx="5610225" cy="1971675"/>
          </a:xfrm>
          <a:custGeom>
            <a:avLst/>
            <a:gdLst/>
            <a:ahLst/>
            <a:cxnLst/>
            <a:rect l="l" t="t" r="r" b="b"/>
            <a:pathLst>
              <a:path w="5610225" h="197167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1895470"/>
                </a:lnTo>
                <a:cubicBezTo>
                  <a:pt x="5610225" y="1937557"/>
                  <a:pt x="5576107" y="1971675"/>
                  <a:pt x="5534020" y="1971675"/>
                </a:cubicBezTo>
                <a:lnTo>
                  <a:pt x="76205" y="1971675"/>
                </a:lnTo>
                <a:cubicBezTo>
                  <a:pt x="34118" y="1971675"/>
                  <a:pt x="0" y="1937557"/>
                  <a:pt x="0" y="18954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125" y="3543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15A77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9625" y="373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14" name="Text 12"/>
          <p:cNvSpPr/>
          <p:nvPr/>
        </p:nvSpPr>
        <p:spPr>
          <a:xfrm>
            <a:off x="1381125" y="3581400"/>
            <a:ext cx="228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Pedigree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81125" y="3886200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Award-Winning AI Architectures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9125" y="430530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Proven ability to build award-winning AI architectures and multi-agent systems. Our Autonomous Software Factory demonstrates production-grade capability.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96013" y="1423988"/>
            <a:ext cx="5610225" cy="1971675"/>
          </a:xfrm>
          <a:custGeom>
            <a:avLst/>
            <a:gdLst/>
            <a:ahLst/>
            <a:cxnLst/>
            <a:rect l="l" t="t" r="r" b="b"/>
            <a:pathLst>
              <a:path w="5610225" h="1971675">
                <a:moveTo>
                  <a:pt x="76205" y="0"/>
                </a:moveTo>
                <a:lnTo>
                  <a:pt x="5534020" y="0"/>
                </a:lnTo>
                <a:cubicBezTo>
                  <a:pt x="5576107" y="0"/>
                  <a:pt x="5610225" y="34118"/>
                  <a:pt x="5610225" y="76205"/>
                </a:cubicBezTo>
                <a:lnTo>
                  <a:pt x="5610225" y="1895470"/>
                </a:lnTo>
                <a:cubicBezTo>
                  <a:pt x="5610225" y="1937557"/>
                  <a:pt x="5576107" y="1971675"/>
                  <a:pt x="5534020" y="1971675"/>
                </a:cubicBezTo>
                <a:lnTo>
                  <a:pt x="76205" y="1971675"/>
                </a:lnTo>
                <a:cubicBezTo>
                  <a:pt x="34118" y="1971675"/>
                  <a:pt x="0" y="1937557"/>
                  <a:pt x="0" y="18954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3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9375" y="16573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78DA9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591300" y="18478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20" name="Text 18"/>
          <p:cNvSpPr/>
          <p:nvPr/>
        </p:nvSpPr>
        <p:spPr>
          <a:xfrm>
            <a:off x="7191375" y="1695450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Ecosystem Leadership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91375" y="2000250"/>
            <a:ext cx="236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Community Building &amp; Scale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29375" y="241935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roots in community building and technical leadership, equipped to scale a platform designed to solve highly complex logistical and software problems.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6013" y="3557588"/>
            <a:ext cx="5610225" cy="2914650"/>
          </a:xfrm>
          <a:custGeom>
            <a:avLst/>
            <a:gdLst/>
            <a:ahLst/>
            <a:cxnLst/>
            <a:rect l="l" t="t" r="r" b="b"/>
            <a:pathLst>
              <a:path w="5610225" h="2914650">
                <a:moveTo>
                  <a:pt x="76189" y="0"/>
                </a:moveTo>
                <a:lnTo>
                  <a:pt x="5534036" y="0"/>
                </a:lnTo>
                <a:cubicBezTo>
                  <a:pt x="5576114" y="0"/>
                  <a:pt x="5610225" y="34111"/>
                  <a:pt x="5610225" y="76189"/>
                </a:cubicBezTo>
                <a:lnTo>
                  <a:pt x="5610225" y="2838461"/>
                </a:lnTo>
                <a:cubicBezTo>
                  <a:pt x="5610225" y="2880539"/>
                  <a:pt x="5576114" y="2914650"/>
                  <a:pt x="5534036" y="2914650"/>
                </a:cubicBezTo>
                <a:lnTo>
                  <a:pt x="76189" y="2914650"/>
                </a:lnTo>
                <a:cubicBezTo>
                  <a:pt x="34111" y="2914650"/>
                  <a:pt x="0" y="2880539"/>
                  <a:pt x="0" y="2838461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gradFill rotWithShape="1" flip="none">
            <a:gsLst>
              <a:gs pos="0">
                <a:srgbClr val="778DA9">
                  <a:alpha val="30000"/>
                </a:srgbClr>
              </a:gs>
              <a:gs pos="100000">
                <a:srgbClr val="415A77">
                  <a:alpha val="20000"/>
                </a:srgbClr>
              </a:gs>
            </a:gsLst>
            <a:lin ang="2700000" scaled="1"/>
          </a:gradFill>
          <a:ln w="12700">
            <a:solidFill>
              <a:srgbClr val="778DA9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7950" y="3829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25" name="Text 23"/>
          <p:cNvSpPr/>
          <p:nvPr/>
        </p:nvSpPr>
        <p:spPr>
          <a:xfrm>
            <a:off x="6715125" y="3790950"/>
            <a:ext cx="4972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We're Uniquely Positioned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00800" y="4286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7" name="Text 25"/>
          <p:cNvSpPr/>
          <p:nvPr/>
        </p:nvSpPr>
        <p:spPr>
          <a:xfrm>
            <a:off x="6662291" y="4248150"/>
            <a:ext cx="499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the hardest version first: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Our Autonomous Software Factory proves we can solve the most complex orchestration challenges.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10325" y="48577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9" name="Text 27"/>
          <p:cNvSpPr/>
          <p:nvPr/>
        </p:nvSpPr>
        <p:spPr>
          <a:xfrm>
            <a:off x="6672560" y="481965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domain expertise: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 understand both the technical and business sides of knowledge work automation.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0325" y="54292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1" name="Text 29"/>
          <p:cNvSpPr/>
          <p:nvPr/>
        </p:nvSpPr>
        <p:spPr>
          <a:xfrm>
            <a:off x="6674644" y="5391150"/>
            <a:ext cx="4972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Africa-first, globally scalable: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Building from an emerging market with a global product mindset from day one.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echmoonshot.com/7590f288fdf14959d94382b2d92ca73389dae2d6.jpe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5000" b="50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B2A">
                  <a:alpha val="95000"/>
                </a:srgbClr>
              </a:gs>
              <a:gs pos="50000">
                <a:srgbClr val="0D1B2A">
                  <a:alpha val="90000"/>
                </a:srgbClr>
              </a:gs>
              <a:gs pos="100000">
                <a:srgbClr val="415A77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88" kern="0" dirty="0">
                <a:solidFill>
                  <a:srgbClr val="778DA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Partnership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539750"/>
            <a:ext cx="1169987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Google Accelerator Africa?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992188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7" name="Shape 4"/>
          <p:cNvSpPr/>
          <p:nvPr/>
        </p:nvSpPr>
        <p:spPr>
          <a:xfrm>
            <a:off x="321469" y="1186656"/>
            <a:ext cx="6262688" cy="1658938"/>
          </a:xfrm>
          <a:custGeom>
            <a:avLst/>
            <a:gdLst/>
            <a:ahLst/>
            <a:cxnLst/>
            <a:rect l="l" t="t" r="r" b="b"/>
            <a:pathLst>
              <a:path w="6262688" h="1658938">
                <a:moveTo>
                  <a:pt x="63504" y="0"/>
                </a:moveTo>
                <a:lnTo>
                  <a:pt x="6199183" y="0"/>
                </a:lnTo>
                <a:cubicBezTo>
                  <a:pt x="6234256" y="0"/>
                  <a:pt x="6262688" y="28432"/>
                  <a:pt x="6262688" y="63504"/>
                </a:cubicBezTo>
                <a:lnTo>
                  <a:pt x="6262688" y="1595433"/>
                </a:lnTo>
                <a:cubicBezTo>
                  <a:pt x="6262688" y="1630506"/>
                  <a:pt x="6234256" y="1658938"/>
                  <a:pt x="6199183" y="1658938"/>
                </a:cubicBezTo>
                <a:lnTo>
                  <a:pt x="63504" y="1658938"/>
                </a:lnTo>
                <a:cubicBezTo>
                  <a:pt x="28432" y="1658938"/>
                  <a:pt x="0" y="1630506"/>
                  <a:pt x="0" y="15954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4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5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5938" y="1381125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15A77">
              <a:alpha val="6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42938" y="15081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0"/>
                </a:moveTo>
                <a:cubicBezTo>
                  <a:pt x="96478" y="0"/>
                  <a:pt x="107156" y="8000"/>
                  <a:pt x="107156" y="17859"/>
                </a:cubicBezTo>
                <a:cubicBezTo>
                  <a:pt x="107156" y="21729"/>
                  <a:pt x="105519" y="25301"/>
                  <a:pt x="102691" y="28240"/>
                </a:cubicBezTo>
                <a:cubicBezTo>
                  <a:pt x="100236" y="30807"/>
                  <a:pt x="98227" y="33933"/>
                  <a:pt x="98227" y="37505"/>
                </a:cubicBezTo>
                <a:cubicBezTo>
                  <a:pt x="98227" y="43086"/>
                  <a:pt x="102766" y="47625"/>
                  <a:pt x="108347" y="47625"/>
                </a:cubicBezTo>
                <a:lnTo>
                  <a:pt x="125016" y="47625"/>
                </a:lnTo>
                <a:cubicBezTo>
                  <a:pt x="134875" y="47625"/>
                  <a:pt x="142875" y="55625"/>
                  <a:pt x="142875" y="65484"/>
                </a:cubicBezTo>
                <a:lnTo>
                  <a:pt x="142875" y="82153"/>
                </a:lnTo>
                <a:cubicBezTo>
                  <a:pt x="142875" y="87734"/>
                  <a:pt x="147414" y="92273"/>
                  <a:pt x="152995" y="92273"/>
                </a:cubicBezTo>
                <a:cubicBezTo>
                  <a:pt x="156530" y="92273"/>
                  <a:pt x="159693" y="90264"/>
                  <a:pt x="162260" y="87809"/>
                </a:cubicBezTo>
                <a:cubicBezTo>
                  <a:pt x="165199" y="85018"/>
                  <a:pt x="168771" y="83344"/>
                  <a:pt x="172641" y="83344"/>
                </a:cubicBezTo>
                <a:cubicBezTo>
                  <a:pt x="182500" y="83344"/>
                  <a:pt x="190500" y="94022"/>
                  <a:pt x="190500" y="107156"/>
                </a:cubicBezTo>
                <a:cubicBezTo>
                  <a:pt x="190500" y="120290"/>
                  <a:pt x="182500" y="130969"/>
                  <a:pt x="172641" y="130969"/>
                </a:cubicBezTo>
                <a:cubicBezTo>
                  <a:pt x="168771" y="130969"/>
                  <a:pt x="165162" y="129332"/>
                  <a:pt x="162260" y="126504"/>
                </a:cubicBezTo>
                <a:cubicBezTo>
                  <a:pt x="159693" y="124048"/>
                  <a:pt x="156567" y="122039"/>
                  <a:pt x="152995" y="122039"/>
                </a:cubicBezTo>
                <a:cubicBezTo>
                  <a:pt x="147414" y="122039"/>
                  <a:pt x="142875" y="126578"/>
                  <a:pt x="142875" y="132159"/>
                </a:cubicBezTo>
                <a:lnTo>
                  <a:pt x="142875" y="172641"/>
                </a:lnTo>
                <a:cubicBezTo>
                  <a:pt x="142875" y="182500"/>
                  <a:pt x="134875" y="190500"/>
                  <a:pt x="125016" y="190500"/>
                </a:cubicBezTo>
                <a:lnTo>
                  <a:pt x="103882" y="190500"/>
                </a:lnTo>
                <a:cubicBezTo>
                  <a:pt x="99120" y="190500"/>
                  <a:pt x="95250" y="186630"/>
                  <a:pt x="95250" y="181868"/>
                </a:cubicBezTo>
                <a:cubicBezTo>
                  <a:pt x="95250" y="178445"/>
                  <a:pt x="97408" y="175431"/>
                  <a:pt x="100161" y="173385"/>
                </a:cubicBezTo>
                <a:cubicBezTo>
                  <a:pt x="104477" y="170148"/>
                  <a:pt x="107156" y="165683"/>
                  <a:pt x="107156" y="160734"/>
                </a:cubicBezTo>
                <a:cubicBezTo>
                  <a:pt x="107156" y="150875"/>
                  <a:pt x="96478" y="142875"/>
                  <a:pt x="83344" y="142875"/>
                </a:cubicBezTo>
                <a:cubicBezTo>
                  <a:pt x="70210" y="142875"/>
                  <a:pt x="59531" y="150875"/>
                  <a:pt x="59531" y="160734"/>
                </a:cubicBezTo>
                <a:cubicBezTo>
                  <a:pt x="59531" y="165683"/>
                  <a:pt x="62210" y="170148"/>
                  <a:pt x="66526" y="173385"/>
                </a:cubicBezTo>
                <a:cubicBezTo>
                  <a:pt x="69279" y="175431"/>
                  <a:pt x="71438" y="178408"/>
                  <a:pt x="71438" y="181868"/>
                </a:cubicBezTo>
                <a:cubicBezTo>
                  <a:pt x="71438" y="186630"/>
                  <a:pt x="67568" y="190500"/>
                  <a:pt x="62805" y="190500"/>
                </a:cubicBezTo>
                <a:lnTo>
                  <a:pt x="17859" y="190500"/>
                </a:lnTo>
                <a:cubicBezTo>
                  <a:pt x="8000" y="190500"/>
                  <a:pt x="0" y="182500"/>
                  <a:pt x="0" y="172641"/>
                </a:cubicBezTo>
                <a:lnTo>
                  <a:pt x="0" y="127695"/>
                </a:lnTo>
                <a:cubicBezTo>
                  <a:pt x="0" y="122932"/>
                  <a:pt x="3870" y="119063"/>
                  <a:pt x="8632" y="119063"/>
                </a:cubicBezTo>
                <a:cubicBezTo>
                  <a:pt x="12055" y="119063"/>
                  <a:pt x="15069" y="121221"/>
                  <a:pt x="17115" y="123974"/>
                </a:cubicBezTo>
                <a:cubicBezTo>
                  <a:pt x="20352" y="128290"/>
                  <a:pt x="24817" y="130969"/>
                  <a:pt x="29766" y="130969"/>
                </a:cubicBezTo>
                <a:cubicBezTo>
                  <a:pt x="39625" y="130969"/>
                  <a:pt x="47625" y="120290"/>
                  <a:pt x="47625" y="107156"/>
                </a:cubicBezTo>
                <a:cubicBezTo>
                  <a:pt x="47625" y="94022"/>
                  <a:pt x="39625" y="83344"/>
                  <a:pt x="29766" y="83344"/>
                </a:cubicBezTo>
                <a:cubicBezTo>
                  <a:pt x="24817" y="83344"/>
                  <a:pt x="20352" y="86023"/>
                  <a:pt x="17115" y="90339"/>
                </a:cubicBezTo>
                <a:cubicBezTo>
                  <a:pt x="15069" y="93092"/>
                  <a:pt x="12092" y="95250"/>
                  <a:pt x="8632" y="95250"/>
                </a:cubicBezTo>
                <a:cubicBezTo>
                  <a:pt x="3870" y="95250"/>
                  <a:pt x="0" y="91380"/>
                  <a:pt x="0" y="86618"/>
                </a:cubicBezTo>
                <a:lnTo>
                  <a:pt x="0" y="65484"/>
                </a:lnTo>
                <a:cubicBezTo>
                  <a:pt x="0" y="55625"/>
                  <a:pt x="8000" y="47625"/>
                  <a:pt x="17859" y="47625"/>
                </a:cubicBezTo>
                <a:lnTo>
                  <a:pt x="58341" y="47625"/>
                </a:lnTo>
                <a:cubicBezTo>
                  <a:pt x="63922" y="47625"/>
                  <a:pt x="68461" y="43086"/>
                  <a:pt x="68461" y="37505"/>
                </a:cubicBezTo>
                <a:cubicBezTo>
                  <a:pt x="68461" y="33970"/>
                  <a:pt x="66452" y="30807"/>
                  <a:pt x="63996" y="28240"/>
                </a:cubicBezTo>
                <a:cubicBezTo>
                  <a:pt x="61206" y="25301"/>
                  <a:pt x="59531" y="21729"/>
                  <a:pt x="59531" y="17859"/>
                </a:cubicBezTo>
                <a:cubicBezTo>
                  <a:pt x="59531" y="8000"/>
                  <a:pt x="70210" y="0"/>
                  <a:pt x="83344" y="0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10" name="Text 7"/>
          <p:cNvSpPr/>
          <p:nvPr/>
        </p:nvSpPr>
        <p:spPr>
          <a:xfrm>
            <a:off x="1087438" y="1476375"/>
            <a:ext cx="1762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Alignment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5938" y="1952625"/>
            <a:ext cx="594518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Synctropic aligns perfectly with Google's push into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AI-first ecosystems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Our multi-agent orchestration platform exemplifies the future of autonomous workflows that Google is pioneering.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1469" y="2978547"/>
            <a:ext cx="6262688" cy="1658938"/>
          </a:xfrm>
          <a:custGeom>
            <a:avLst/>
            <a:gdLst/>
            <a:ahLst/>
            <a:cxnLst/>
            <a:rect l="l" t="t" r="r" b="b"/>
            <a:pathLst>
              <a:path w="6262688" h="1658938">
                <a:moveTo>
                  <a:pt x="63504" y="0"/>
                </a:moveTo>
                <a:lnTo>
                  <a:pt x="6199183" y="0"/>
                </a:lnTo>
                <a:cubicBezTo>
                  <a:pt x="6234256" y="0"/>
                  <a:pt x="6262688" y="28432"/>
                  <a:pt x="6262688" y="63504"/>
                </a:cubicBezTo>
                <a:lnTo>
                  <a:pt x="6262688" y="1595433"/>
                </a:lnTo>
                <a:cubicBezTo>
                  <a:pt x="6262688" y="1630506"/>
                  <a:pt x="6234256" y="1658938"/>
                  <a:pt x="6199183" y="1658938"/>
                </a:cubicBezTo>
                <a:lnTo>
                  <a:pt x="63504" y="1658938"/>
                </a:lnTo>
                <a:cubicBezTo>
                  <a:pt x="28432" y="1658938"/>
                  <a:pt x="0" y="1630506"/>
                  <a:pt x="0" y="15954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4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415A77">
                <a:alpha val="5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5938" y="3173016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15A77">
              <a:alpha val="6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54844" y="330001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15" name="Text 12"/>
          <p:cNvSpPr/>
          <p:nvPr/>
        </p:nvSpPr>
        <p:spPr>
          <a:xfrm>
            <a:off x="1087438" y="3268266"/>
            <a:ext cx="1825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Needs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5938" y="3744516"/>
            <a:ext cx="594518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need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Cloud's infrastructure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scale parallel agent instances efficiently. Our event-driven architecture requires the compute, storage, and networking capabilities that GCP excels at.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1469" y="4770438"/>
            <a:ext cx="6262688" cy="1658938"/>
          </a:xfrm>
          <a:custGeom>
            <a:avLst/>
            <a:gdLst/>
            <a:ahLst/>
            <a:cxnLst/>
            <a:rect l="l" t="t" r="r" b="b"/>
            <a:pathLst>
              <a:path w="6262688" h="1658938">
                <a:moveTo>
                  <a:pt x="63504" y="0"/>
                </a:moveTo>
                <a:lnTo>
                  <a:pt x="6199183" y="0"/>
                </a:lnTo>
                <a:cubicBezTo>
                  <a:pt x="6234256" y="0"/>
                  <a:pt x="6262688" y="28432"/>
                  <a:pt x="6262688" y="63504"/>
                </a:cubicBezTo>
                <a:lnTo>
                  <a:pt x="6262688" y="1595433"/>
                </a:lnTo>
                <a:cubicBezTo>
                  <a:pt x="6262688" y="1630506"/>
                  <a:pt x="6234256" y="1658938"/>
                  <a:pt x="6199183" y="1658938"/>
                </a:cubicBezTo>
                <a:lnTo>
                  <a:pt x="63504" y="1658938"/>
                </a:lnTo>
                <a:cubicBezTo>
                  <a:pt x="28432" y="1658938"/>
                  <a:pt x="0" y="1630506"/>
                  <a:pt x="0" y="1595433"/>
                </a:cubicBezTo>
                <a:lnTo>
                  <a:pt x="0" y="63504"/>
                </a:lnTo>
                <a:cubicBezTo>
                  <a:pt x="0" y="28432"/>
                  <a:pt x="28432" y="0"/>
                  <a:pt x="63504" y="0"/>
                </a:cubicBezTo>
                <a:close/>
              </a:path>
            </a:pathLst>
          </a:custGeom>
          <a:gradFill rotWithShape="1" flip="none">
            <a:gsLst>
              <a:gs pos="0">
                <a:srgbClr val="778DA9">
                  <a:alpha val="40000"/>
                </a:srgbClr>
              </a:gs>
              <a:gs pos="100000">
                <a:srgbClr val="415A77">
                  <a:alpha val="30000"/>
                </a:srgbClr>
              </a:gs>
            </a:gsLst>
            <a:lin ang="2700000" scaled="1"/>
          </a:gradFill>
          <a:ln w="12700">
            <a:solidFill>
              <a:srgbClr val="778DA9">
                <a:alpha val="5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5938" y="4964906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778DA9">
              <a:alpha val="6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42938" y="509190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539" y="65112"/>
                </a:moveTo>
                <a:cubicBezTo>
                  <a:pt x="154781" y="37356"/>
                  <a:pt x="127285" y="17859"/>
                  <a:pt x="95250" y="17859"/>
                </a:cubicBezTo>
                <a:cubicBezTo>
                  <a:pt x="87027" y="17859"/>
                  <a:pt x="79102" y="19162"/>
                  <a:pt x="71661" y="21506"/>
                </a:cubicBezTo>
                <a:cubicBezTo>
                  <a:pt x="71512" y="22250"/>
                  <a:pt x="71438" y="23031"/>
                  <a:pt x="71438" y="23812"/>
                </a:cubicBezTo>
                <a:lnTo>
                  <a:pt x="71438" y="51122"/>
                </a:lnTo>
                <a:cubicBezTo>
                  <a:pt x="71438" y="55773"/>
                  <a:pt x="75195" y="59531"/>
                  <a:pt x="79846" y="59531"/>
                </a:cubicBezTo>
                <a:cubicBezTo>
                  <a:pt x="82079" y="59531"/>
                  <a:pt x="84237" y="58638"/>
                  <a:pt x="85799" y="57076"/>
                </a:cubicBezTo>
                <a:lnTo>
                  <a:pt x="91753" y="51122"/>
                </a:lnTo>
                <a:cubicBezTo>
                  <a:pt x="93985" y="48890"/>
                  <a:pt x="96999" y="47625"/>
                  <a:pt x="100161" y="47625"/>
                </a:cubicBezTo>
                <a:lnTo>
                  <a:pt x="102208" y="47625"/>
                </a:lnTo>
                <a:cubicBezTo>
                  <a:pt x="112812" y="47625"/>
                  <a:pt x="118132" y="60461"/>
                  <a:pt x="110617" y="67940"/>
                </a:cubicBezTo>
                <a:cubicBezTo>
                  <a:pt x="108384" y="70172"/>
                  <a:pt x="105370" y="71438"/>
                  <a:pt x="102208" y="71438"/>
                </a:cubicBezTo>
                <a:lnTo>
                  <a:pt x="79325" y="71438"/>
                </a:lnTo>
                <a:cubicBezTo>
                  <a:pt x="76163" y="71438"/>
                  <a:pt x="73149" y="72703"/>
                  <a:pt x="70917" y="74935"/>
                </a:cubicBezTo>
                <a:lnTo>
                  <a:pt x="62992" y="82860"/>
                </a:lnTo>
                <a:cubicBezTo>
                  <a:pt x="60759" y="85092"/>
                  <a:pt x="59494" y="88106"/>
                  <a:pt x="59494" y="91269"/>
                </a:cubicBezTo>
                <a:lnTo>
                  <a:pt x="59494" y="107156"/>
                </a:lnTo>
                <a:cubicBezTo>
                  <a:pt x="59494" y="113742"/>
                  <a:pt x="64815" y="119063"/>
                  <a:pt x="71400" y="119063"/>
                </a:cubicBezTo>
                <a:lnTo>
                  <a:pt x="83307" y="119063"/>
                </a:lnTo>
                <a:cubicBezTo>
                  <a:pt x="89892" y="119063"/>
                  <a:pt x="95213" y="124383"/>
                  <a:pt x="95213" y="130969"/>
                </a:cubicBezTo>
                <a:lnTo>
                  <a:pt x="95213" y="142875"/>
                </a:lnTo>
                <a:cubicBezTo>
                  <a:pt x="95213" y="149461"/>
                  <a:pt x="100533" y="154781"/>
                  <a:pt x="107119" y="154781"/>
                </a:cubicBezTo>
                <a:lnTo>
                  <a:pt x="108124" y="154781"/>
                </a:lnTo>
                <a:cubicBezTo>
                  <a:pt x="111286" y="154781"/>
                  <a:pt x="114300" y="153516"/>
                  <a:pt x="116532" y="151284"/>
                </a:cubicBezTo>
                <a:lnTo>
                  <a:pt x="127434" y="140382"/>
                </a:lnTo>
                <a:cubicBezTo>
                  <a:pt x="129667" y="138150"/>
                  <a:pt x="130932" y="135136"/>
                  <a:pt x="130932" y="131973"/>
                </a:cubicBezTo>
                <a:lnTo>
                  <a:pt x="130932" y="125016"/>
                </a:lnTo>
                <a:cubicBezTo>
                  <a:pt x="130932" y="121741"/>
                  <a:pt x="133610" y="119063"/>
                  <a:pt x="136885" y="119063"/>
                </a:cubicBezTo>
                <a:cubicBezTo>
                  <a:pt x="140159" y="119063"/>
                  <a:pt x="142838" y="116384"/>
                  <a:pt x="142838" y="113109"/>
                </a:cubicBezTo>
                <a:lnTo>
                  <a:pt x="142838" y="100199"/>
                </a:lnTo>
                <a:cubicBezTo>
                  <a:pt x="142838" y="97036"/>
                  <a:pt x="141573" y="94022"/>
                  <a:pt x="139340" y="91790"/>
                </a:cubicBezTo>
                <a:lnTo>
                  <a:pt x="133387" y="85837"/>
                </a:lnTo>
                <a:cubicBezTo>
                  <a:pt x="131825" y="84274"/>
                  <a:pt x="130932" y="82116"/>
                  <a:pt x="130932" y="79883"/>
                </a:cubicBezTo>
                <a:cubicBezTo>
                  <a:pt x="130932" y="75233"/>
                  <a:pt x="134689" y="71475"/>
                  <a:pt x="139340" y="71475"/>
                </a:cubicBezTo>
                <a:lnTo>
                  <a:pt x="156083" y="71475"/>
                </a:lnTo>
                <a:cubicBezTo>
                  <a:pt x="160697" y="71475"/>
                  <a:pt x="164529" y="68833"/>
                  <a:pt x="166501" y="651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20" name="Text 17"/>
          <p:cNvSpPr/>
          <p:nvPr/>
        </p:nvSpPr>
        <p:spPr>
          <a:xfrm>
            <a:off x="1087438" y="5060156"/>
            <a:ext cx="2008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African Advantage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5938" y="5536406"/>
            <a:ext cx="594518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are building a </a:t>
            </a:r>
            <a:pPr>
              <a:lnSpc>
                <a:spcPct val="140000"/>
              </a:lnSpc>
            </a:pPr>
            <a:r>
              <a:rPr lang="en-US" sz="112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globally scalable, high-leverage product from an emerging market</a:t>
            </a:r>
            <a:pPr>
              <a:lnSpc>
                <a:spcPct val="140000"/>
              </a:lnSpc>
            </a:pPr>
            <a:r>
              <a:rPr lang="en-US" sz="1125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democratizing access to top-tier expertise worldwide. Africa's rising tech ecosystem is the perfect launchpad.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749231" y="1186656"/>
            <a:ext cx="5119688" cy="3436938"/>
          </a:xfrm>
          <a:custGeom>
            <a:avLst/>
            <a:gdLst/>
            <a:ahLst/>
            <a:cxnLst/>
            <a:rect l="l" t="t" r="r" b="b"/>
            <a:pathLst>
              <a:path w="5119688" h="3436938">
                <a:moveTo>
                  <a:pt x="63515" y="0"/>
                </a:moveTo>
                <a:lnTo>
                  <a:pt x="5056173" y="0"/>
                </a:lnTo>
                <a:cubicBezTo>
                  <a:pt x="5091251" y="0"/>
                  <a:pt x="5119687" y="28436"/>
                  <a:pt x="5119687" y="63515"/>
                </a:cubicBezTo>
                <a:lnTo>
                  <a:pt x="5119688" y="3373423"/>
                </a:lnTo>
                <a:cubicBezTo>
                  <a:pt x="5119687" y="3408501"/>
                  <a:pt x="5091251" y="3436938"/>
                  <a:pt x="5056173" y="3436937"/>
                </a:cubicBezTo>
                <a:lnTo>
                  <a:pt x="63515" y="3436938"/>
                </a:lnTo>
                <a:cubicBezTo>
                  <a:pt x="28436" y="3436937"/>
                  <a:pt x="0" y="3408501"/>
                  <a:pt x="0" y="3373423"/>
                </a:cubicBezTo>
                <a:lnTo>
                  <a:pt x="0" y="63515"/>
                </a:lnTo>
                <a:cubicBezTo>
                  <a:pt x="0" y="28460"/>
                  <a:pt x="28460" y="0"/>
                  <a:pt x="63515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40000"/>
                </a:srgbClr>
              </a:gs>
              <a:gs pos="100000">
                <a:srgbClr val="0D1B2A"/>
              </a:gs>
            </a:gsLst>
            <a:lin ang="2700000" scaled="1"/>
          </a:gradFill>
          <a:ln w="12700">
            <a:solidFill>
              <a:srgbClr val="778DA9">
                <a:alpha val="5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67513" y="14128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4" name="Text 21"/>
          <p:cNvSpPr/>
          <p:nvPr/>
        </p:nvSpPr>
        <p:spPr>
          <a:xfrm>
            <a:off x="7181825" y="1381125"/>
            <a:ext cx="4587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Accelerator Track Record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959575" y="1793875"/>
            <a:ext cx="4714875" cy="793750"/>
          </a:xfrm>
          <a:custGeom>
            <a:avLst/>
            <a:gdLst/>
            <a:ahLst/>
            <a:cxnLst/>
            <a:rect l="l" t="t" r="r" b="b"/>
            <a:pathLst>
              <a:path w="4714875" h="793750">
                <a:moveTo>
                  <a:pt x="31750" y="0"/>
                </a:moveTo>
                <a:lnTo>
                  <a:pt x="4651375" y="0"/>
                </a:lnTo>
                <a:cubicBezTo>
                  <a:pt x="4686422" y="0"/>
                  <a:pt x="4714875" y="28453"/>
                  <a:pt x="4714875" y="63500"/>
                </a:cubicBezTo>
                <a:lnTo>
                  <a:pt x="4714875" y="730250"/>
                </a:lnTo>
                <a:cubicBezTo>
                  <a:pt x="4714875" y="765297"/>
                  <a:pt x="4686422" y="793750"/>
                  <a:pt x="4651375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6959575" y="1793875"/>
            <a:ext cx="31750" cy="793750"/>
          </a:xfrm>
          <a:custGeom>
            <a:avLst/>
            <a:gdLst/>
            <a:ahLst/>
            <a:cxnLst/>
            <a:rect l="l" t="t" r="r" b="b"/>
            <a:pathLst>
              <a:path w="31750" h="793750">
                <a:moveTo>
                  <a:pt x="31750" y="0"/>
                </a:moveTo>
                <a:lnTo>
                  <a:pt x="31750" y="0"/>
                </a:lnTo>
                <a:lnTo>
                  <a:pt x="31750" y="793750"/>
                </a:ln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27" name="Shape 24"/>
          <p:cNvSpPr/>
          <p:nvPr/>
        </p:nvSpPr>
        <p:spPr>
          <a:xfrm>
            <a:off x="7122294" y="19843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28" name="Text 25"/>
          <p:cNvSpPr/>
          <p:nvPr/>
        </p:nvSpPr>
        <p:spPr>
          <a:xfrm>
            <a:off x="7396138" y="1920875"/>
            <a:ext cx="60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180+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102450" y="2270125"/>
            <a:ext cx="450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Startups supported since 2018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959575" y="2714625"/>
            <a:ext cx="4714875" cy="793750"/>
          </a:xfrm>
          <a:custGeom>
            <a:avLst/>
            <a:gdLst/>
            <a:ahLst/>
            <a:cxnLst/>
            <a:rect l="l" t="t" r="r" b="b"/>
            <a:pathLst>
              <a:path w="4714875" h="793750">
                <a:moveTo>
                  <a:pt x="31750" y="0"/>
                </a:moveTo>
                <a:lnTo>
                  <a:pt x="4651375" y="0"/>
                </a:lnTo>
                <a:cubicBezTo>
                  <a:pt x="4686422" y="0"/>
                  <a:pt x="4714875" y="28453"/>
                  <a:pt x="4714875" y="63500"/>
                </a:cubicBezTo>
                <a:lnTo>
                  <a:pt x="4714875" y="730250"/>
                </a:lnTo>
                <a:cubicBezTo>
                  <a:pt x="4714875" y="765297"/>
                  <a:pt x="4686422" y="793750"/>
                  <a:pt x="4651375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959575" y="2714625"/>
            <a:ext cx="31750" cy="793750"/>
          </a:xfrm>
          <a:custGeom>
            <a:avLst/>
            <a:gdLst/>
            <a:ahLst/>
            <a:cxnLst/>
            <a:rect l="l" t="t" r="r" b="b"/>
            <a:pathLst>
              <a:path w="31750" h="793750">
                <a:moveTo>
                  <a:pt x="31750" y="0"/>
                </a:moveTo>
                <a:lnTo>
                  <a:pt x="31750" y="0"/>
                </a:lnTo>
                <a:lnTo>
                  <a:pt x="31750" y="793750"/>
                </a:ln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415A77"/>
          </a:solidFill>
          <a:ln/>
        </p:spPr>
      </p:sp>
      <p:sp>
        <p:nvSpPr>
          <p:cNvPr id="32" name="Shape 29"/>
          <p:cNvSpPr/>
          <p:nvPr/>
        </p:nvSpPr>
        <p:spPr>
          <a:xfrm>
            <a:off x="7152060" y="2905125"/>
            <a:ext cx="99219" cy="158750"/>
          </a:xfrm>
          <a:custGeom>
            <a:avLst/>
            <a:gdLst/>
            <a:ahLst/>
            <a:cxnLst/>
            <a:rect l="l" t="t" r="r" b="b"/>
            <a:pathLst>
              <a:path w="99219" h="158750">
                <a:moveTo>
                  <a:pt x="42168" y="7441"/>
                </a:moveTo>
                <a:cubicBezTo>
                  <a:pt x="42168" y="3318"/>
                  <a:pt x="45486" y="0"/>
                  <a:pt x="49609" y="0"/>
                </a:cubicBezTo>
                <a:cubicBezTo>
                  <a:pt x="53733" y="0"/>
                  <a:pt x="57051" y="3318"/>
                  <a:pt x="57051" y="7441"/>
                </a:cubicBezTo>
                <a:lnTo>
                  <a:pt x="57051" y="19844"/>
                </a:lnTo>
                <a:lnTo>
                  <a:pt x="74414" y="19844"/>
                </a:lnTo>
                <a:cubicBezTo>
                  <a:pt x="79902" y="19844"/>
                  <a:pt x="84336" y="24278"/>
                  <a:pt x="84336" y="29766"/>
                </a:cubicBezTo>
                <a:cubicBezTo>
                  <a:pt x="84336" y="35254"/>
                  <a:pt x="79902" y="39688"/>
                  <a:pt x="74414" y="39688"/>
                </a:cubicBezTo>
                <a:lnTo>
                  <a:pt x="38788" y="39688"/>
                </a:lnTo>
                <a:cubicBezTo>
                  <a:pt x="31068" y="39688"/>
                  <a:pt x="24805" y="45951"/>
                  <a:pt x="24805" y="53671"/>
                </a:cubicBezTo>
                <a:cubicBezTo>
                  <a:pt x="24805" y="60647"/>
                  <a:pt x="29921" y="66539"/>
                  <a:pt x="36804" y="67531"/>
                </a:cubicBezTo>
                <a:lnTo>
                  <a:pt x="65205" y="71593"/>
                </a:lnTo>
                <a:cubicBezTo>
                  <a:pt x="81886" y="73980"/>
                  <a:pt x="94258" y="88243"/>
                  <a:pt x="94258" y="105079"/>
                </a:cubicBezTo>
                <a:cubicBezTo>
                  <a:pt x="94258" y="123775"/>
                  <a:pt x="79096" y="138906"/>
                  <a:pt x="60430" y="138906"/>
                </a:cubicBezTo>
                <a:lnTo>
                  <a:pt x="57051" y="138906"/>
                </a:lnTo>
                <a:lnTo>
                  <a:pt x="57051" y="151309"/>
                </a:lnTo>
                <a:cubicBezTo>
                  <a:pt x="57051" y="155432"/>
                  <a:pt x="53733" y="158750"/>
                  <a:pt x="49609" y="158750"/>
                </a:cubicBezTo>
                <a:cubicBezTo>
                  <a:pt x="45486" y="158750"/>
                  <a:pt x="42168" y="155432"/>
                  <a:pt x="42168" y="151309"/>
                </a:cubicBezTo>
                <a:lnTo>
                  <a:pt x="42168" y="138906"/>
                </a:lnTo>
                <a:lnTo>
                  <a:pt x="19844" y="138906"/>
                </a:lnTo>
                <a:cubicBezTo>
                  <a:pt x="14356" y="138906"/>
                  <a:pt x="9922" y="134472"/>
                  <a:pt x="9922" y="128984"/>
                </a:cubicBezTo>
                <a:cubicBezTo>
                  <a:pt x="9922" y="123496"/>
                  <a:pt x="14356" y="119062"/>
                  <a:pt x="19844" y="119062"/>
                </a:cubicBezTo>
                <a:lnTo>
                  <a:pt x="60430" y="119062"/>
                </a:lnTo>
                <a:cubicBezTo>
                  <a:pt x="68151" y="119062"/>
                  <a:pt x="74414" y="112799"/>
                  <a:pt x="74414" y="105079"/>
                </a:cubicBezTo>
                <a:cubicBezTo>
                  <a:pt x="74414" y="98103"/>
                  <a:pt x="69298" y="92211"/>
                  <a:pt x="62415" y="91219"/>
                </a:cubicBezTo>
                <a:lnTo>
                  <a:pt x="34013" y="87157"/>
                </a:lnTo>
                <a:cubicBezTo>
                  <a:pt x="17332" y="84801"/>
                  <a:pt x="4961" y="70507"/>
                  <a:pt x="4961" y="53671"/>
                </a:cubicBezTo>
                <a:cubicBezTo>
                  <a:pt x="4961" y="35006"/>
                  <a:pt x="20123" y="19844"/>
                  <a:pt x="38788" y="19844"/>
                </a:cubicBezTo>
                <a:lnTo>
                  <a:pt x="42168" y="19844"/>
                </a:lnTo>
                <a:lnTo>
                  <a:pt x="42168" y="7441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3" name="Text 30"/>
          <p:cNvSpPr/>
          <p:nvPr/>
        </p:nvSpPr>
        <p:spPr>
          <a:xfrm>
            <a:off x="7396138" y="2841625"/>
            <a:ext cx="9763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$350M+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102450" y="3190875"/>
            <a:ext cx="450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Raised by alumni in follow-on funding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959575" y="3635375"/>
            <a:ext cx="4714875" cy="793750"/>
          </a:xfrm>
          <a:custGeom>
            <a:avLst/>
            <a:gdLst/>
            <a:ahLst/>
            <a:cxnLst/>
            <a:rect l="l" t="t" r="r" b="b"/>
            <a:pathLst>
              <a:path w="4714875" h="793750">
                <a:moveTo>
                  <a:pt x="31750" y="0"/>
                </a:moveTo>
                <a:lnTo>
                  <a:pt x="4651375" y="0"/>
                </a:lnTo>
                <a:cubicBezTo>
                  <a:pt x="4686422" y="0"/>
                  <a:pt x="4714875" y="28453"/>
                  <a:pt x="4714875" y="63500"/>
                </a:cubicBezTo>
                <a:lnTo>
                  <a:pt x="4714875" y="730250"/>
                </a:lnTo>
                <a:cubicBezTo>
                  <a:pt x="4714875" y="765297"/>
                  <a:pt x="4686422" y="793750"/>
                  <a:pt x="4651375" y="793750"/>
                </a:cubicBez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D1B2A">
              <a:alpha val="6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959575" y="3635375"/>
            <a:ext cx="31750" cy="793750"/>
          </a:xfrm>
          <a:custGeom>
            <a:avLst/>
            <a:gdLst/>
            <a:ahLst/>
            <a:cxnLst/>
            <a:rect l="l" t="t" r="r" b="b"/>
            <a:pathLst>
              <a:path w="31750" h="793750">
                <a:moveTo>
                  <a:pt x="31750" y="0"/>
                </a:moveTo>
                <a:lnTo>
                  <a:pt x="31750" y="0"/>
                </a:lnTo>
                <a:lnTo>
                  <a:pt x="31750" y="793750"/>
                </a:lnTo>
                <a:lnTo>
                  <a:pt x="31750" y="793750"/>
                </a:lnTo>
                <a:cubicBezTo>
                  <a:pt x="14227" y="793750"/>
                  <a:pt x="0" y="779523"/>
                  <a:pt x="0" y="762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7" name="Shape 34"/>
          <p:cNvSpPr/>
          <p:nvPr/>
        </p:nvSpPr>
        <p:spPr>
          <a:xfrm>
            <a:off x="7122294" y="3825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62012" y="14883"/>
                </a:moveTo>
                <a:lnTo>
                  <a:pt x="96738" y="14883"/>
                </a:lnTo>
                <a:cubicBezTo>
                  <a:pt x="98103" y="14883"/>
                  <a:pt x="99219" y="15999"/>
                  <a:pt x="99219" y="17363"/>
                </a:cubicBezTo>
                <a:lnTo>
                  <a:pt x="99219" y="29766"/>
                </a:lnTo>
                <a:lnTo>
                  <a:pt x="59531" y="29766"/>
                </a:lnTo>
                <a:lnTo>
                  <a:pt x="59531" y="17363"/>
                </a:lnTo>
                <a:cubicBezTo>
                  <a:pt x="59531" y="15999"/>
                  <a:pt x="60647" y="14883"/>
                  <a:pt x="62012" y="14883"/>
                </a:cubicBezTo>
                <a:close/>
                <a:moveTo>
                  <a:pt x="44648" y="17363"/>
                </a:moveTo>
                <a:lnTo>
                  <a:pt x="44648" y="29766"/>
                </a:lnTo>
                <a:lnTo>
                  <a:pt x="19844" y="29766"/>
                </a:lnTo>
                <a:cubicBezTo>
                  <a:pt x="8899" y="29766"/>
                  <a:pt x="0" y="38664"/>
                  <a:pt x="0" y="49609"/>
                </a:cubicBezTo>
                <a:lnTo>
                  <a:pt x="0" y="79375"/>
                </a:lnTo>
                <a:lnTo>
                  <a:pt x="158750" y="79375"/>
                </a:lnTo>
                <a:lnTo>
                  <a:pt x="158750" y="49609"/>
                </a:lnTo>
                <a:cubicBezTo>
                  <a:pt x="158750" y="38664"/>
                  <a:pt x="149851" y="29766"/>
                  <a:pt x="138906" y="29766"/>
                </a:cubicBezTo>
                <a:lnTo>
                  <a:pt x="114102" y="29766"/>
                </a:lnTo>
                <a:lnTo>
                  <a:pt x="114102" y="17363"/>
                </a:lnTo>
                <a:cubicBezTo>
                  <a:pt x="114102" y="7782"/>
                  <a:pt x="106319" y="0"/>
                  <a:pt x="96738" y="0"/>
                </a:cubicBezTo>
                <a:lnTo>
                  <a:pt x="62012" y="0"/>
                </a:lnTo>
                <a:cubicBezTo>
                  <a:pt x="52431" y="0"/>
                  <a:pt x="44648" y="7782"/>
                  <a:pt x="44648" y="17363"/>
                </a:cubicBezTo>
                <a:close/>
                <a:moveTo>
                  <a:pt x="158750" y="94258"/>
                </a:moveTo>
                <a:lnTo>
                  <a:pt x="99219" y="94258"/>
                </a:lnTo>
                <a:lnTo>
                  <a:pt x="99219" y="99219"/>
                </a:lnTo>
                <a:cubicBezTo>
                  <a:pt x="99219" y="104707"/>
                  <a:pt x="94785" y="109141"/>
                  <a:pt x="89297" y="109141"/>
                </a:cubicBezTo>
                <a:lnTo>
                  <a:pt x="69453" y="109141"/>
                </a:lnTo>
                <a:cubicBezTo>
                  <a:pt x="63965" y="109141"/>
                  <a:pt x="59531" y="104707"/>
                  <a:pt x="59531" y="99219"/>
                </a:cubicBezTo>
                <a:lnTo>
                  <a:pt x="59531" y="94258"/>
                </a:lnTo>
                <a:lnTo>
                  <a:pt x="0" y="94258"/>
                </a:ln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38906" y="148828"/>
                </a:lnTo>
                <a:cubicBezTo>
                  <a:pt x="149851" y="148828"/>
                  <a:pt x="158750" y="139929"/>
                  <a:pt x="158750" y="128984"/>
                </a:cubicBezTo>
                <a:lnTo>
                  <a:pt x="158750" y="94258"/>
                </a:lnTo>
                <a:close/>
              </a:path>
            </a:pathLst>
          </a:custGeom>
          <a:solidFill>
            <a:srgbClr val="778DA9"/>
          </a:solidFill>
          <a:ln/>
        </p:spPr>
      </p:sp>
      <p:sp>
        <p:nvSpPr>
          <p:cNvPr id="38" name="Text 35"/>
          <p:cNvSpPr/>
          <p:nvPr/>
        </p:nvSpPr>
        <p:spPr>
          <a:xfrm>
            <a:off x="7396138" y="3762375"/>
            <a:ext cx="8413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3,700+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102450" y="4111625"/>
            <a:ext cx="4508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0F2F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jobs created across Africa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749231" y="4758531"/>
            <a:ext cx="5119688" cy="1055688"/>
          </a:xfrm>
          <a:custGeom>
            <a:avLst/>
            <a:gdLst/>
            <a:ahLst/>
            <a:cxnLst/>
            <a:rect l="l" t="t" r="r" b="b"/>
            <a:pathLst>
              <a:path w="5119688" h="1055688">
                <a:moveTo>
                  <a:pt x="63500" y="0"/>
                </a:moveTo>
                <a:lnTo>
                  <a:pt x="5056188" y="0"/>
                </a:lnTo>
                <a:cubicBezTo>
                  <a:pt x="5091258" y="0"/>
                  <a:pt x="5119688" y="28430"/>
                  <a:pt x="5119688" y="63500"/>
                </a:cubicBezTo>
                <a:lnTo>
                  <a:pt x="5119688" y="992188"/>
                </a:lnTo>
                <a:cubicBezTo>
                  <a:pt x="5119688" y="1027258"/>
                  <a:pt x="5091258" y="1055688"/>
                  <a:pt x="5056188" y="1055688"/>
                </a:cubicBezTo>
                <a:lnTo>
                  <a:pt x="63500" y="1055688"/>
                </a:lnTo>
                <a:cubicBezTo>
                  <a:pt x="28430" y="1055688"/>
                  <a:pt x="0" y="1027258"/>
                  <a:pt x="0" y="99218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rotWithShape="1" flip="none">
            <a:gsLst>
              <a:gs pos="0">
                <a:srgbClr val="778DA9">
                  <a:alpha val="50000"/>
                </a:srgbClr>
              </a:gs>
              <a:gs pos="100000">
                <a:srgbClr val="415A77">
                  <a:alpha val="40000"/>
                </a:srgbClr>
              </a:gs>
            </a:gsLst>
            <a:lin ang="0" scaled="1"/>
          </a:gradFill>
          <a:ln w="12700">
            <a:solidFill>
              <a:srgbClr val="778DA9">
                <a:alpha val="6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47669" y="493712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E0E1DD"/>
          </a:solidFill>
          <a:ln/>
        </p:spPr>
      </p:sp>
      <p:sp>
        <p:nvSpPr>
          <p:cNvPr id="42" name="Text 39"/>
          <p:cNvSpPr/>
          <p:nvPr/>
        </p:nvSpPr>
        <p:spPr>
          <a:xfrm>
            <a:off x="7245325" y="4921250"/>
            <a:ext cx="143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2026 Cohort Focus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911950" y="5238750"/>
            <a:ext cx="4857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0E1D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"AI-First"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F0F2F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 is designed for growth-stage startups leveraging AI and machine learning—exactly where Synctropic sits.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226098" y="6562328"/>
            <a:ext cx="5738813" cy="484187"/>
          </a:xfrm>
          <a:custGeom>
            <a:avLst/>
            <a:gdLst/>
            <a:ahLst/>
            <a:cxnLst/>
            <a:rect l="l" t="t" r="r" b="b"/>
            <a:pathLst>
              <a:path w="5738813" h="484187">
                <a:moveTo>
                  <a:pt x="63501" y="0"/>
                </a:moveTo>
                <a:lnTo>
                  <a:pt x="5675311" y="0"/>
                </a:lnTo>
                <a:cubicBezTo>
                  <a:pt x="5710382" y="0"/>
                  <a:pt x="5738813" y="28430"/>
                  <a:pt x="5738813" y="63501"/>
                </a:cubicBezTo>
                <a:lnTo>
                  <a:pt x="5738813" y="420686"/>
                </a:lnTo>
                <a:cubicBezTo>
                  <a:pt x="5738813" y="455757"/>
                  <a:pt x="5710382" y="484188"/>
                  <a:pt x="5675311" y="484187"/>
                </a:cubicBezTo>
                <a:lnTo>
                  <a:pt x="63501" y="484187"/>
                </a:lnTo>
                <a:cubicBezTo>
                  <a:pt x="28430" y="484187"/>
                  <a:pt x="0" y="455757"/>
                  <a:pt x="0" y="42068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15A77">
                  <a:alpha val="50000"/>
                </a:srgbClr>
              </a:gs>
              <a:gs pos="100000">
                <a:srgbClr val="778DA9">
                  <a:alpha val="40000"/>
                </a:srgbClr>
              </a:gs>
            </a:gsLst>
            <a:lin ang="0" scaled="1"/>
          </a:gradFill>
          <a:ln w="12700">
            <a:solidFill>
              <a:srgbClr val="415A77">
                <a:alpha val="6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44379" y="6693297"/>
            <a:ext cx="5302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0E1D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Synctropic + Google Accelerator Africa = Scaling AI-First Expertise Globally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Synctropic - Pitch Deck</dc:title>
  <dc:subject>Synctropic - Pitch Deck</dc:subject>
  <dc:creator>Kimi</dc:creator>
  <cp:lastModifiedBy>Kimi</cp:lastModifiedBy>
  <cp:revision>1</cp:revision>
  <dcterms:created xsi:type="dcterms:W3CDTF">2026-03-17T22:49:52Z</dcterms:created>
  <dcterms:modified xsi:type="dcterms:W3CDTF">2026-03-17T22:49:52Z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{"Label":"Synctropic - Pitch Deck","ContentProducer":"001191110108MACG2KBH8F10000","ProduceID":"19cfdedb-1652-8686-8000-00008d46e8c9","ReservedCode1":"","ContentPropagator":"001191110108MACG2KBH8F20000","PropagateID":"19cfdedb-1652-8686-8000-00008d46e8c9","ReservedCode2":""}</vt:lpwstr>
  </property>
</Properties>
</file>